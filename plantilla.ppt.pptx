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ooper Hewitt Bold" charset="1" panose="00000000000000000000"/>
      <p:regular r:id="rId18"/>
    </p:embeddedFont>
    <p:embeddedFont>
      <p:font typeface="DM Sans"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EAE9"/>
        </a:solidFill>
      </p:bgPr>
    </p:bg>
    <p:spTree>
      <p:nvGrpSpPr>
        <p:cNvPr id="1" name=""/>
        <p:cNvGrpSpPr/>
        <p:nvPr/>
      </p:nvGrpSpPr>
      <p:grpSpPr>
        <a:xfrm>
          <a:off x="0" y="0"/>
          <a:ext cx="0" cy="0"/>
          <a:chOff x="0" y="0"/>
          <a:chExt cx="0" cy="0"/>
        </a:xfrm>
      </p:grpSpPr>
      <p:sp>
        <p:nvSpPr>
          <p:cNvPr name="Freeform 2" id="2"/>
          <p:cNvSpPr/>
          <p:nvPr/>
        </p:nvSpPr>
        <p:spPr>
          <a:xfrm flipH="true" flipV="false" rot="0">
            <a:off x="0" y="763659"/>
            <a:ext cx="8592049" cy="8463168"/>
          </a:xfrm>
          <a:custGeom>
            <a:avLst/>
            <a:gdLst/>
            <a:ahLst/>
            <a:cxnLst/>
            <a:rect r="r" b="b" t="t" l="l"/>
            <a:pathLst>
              <a:path h="8463168" w="8592049">
                <a:moveTo>
                  <a:pt x="8592049" y="0"/>
                </a:moveTo>
                <a:lnTo>
                  <a:pt x="0" y="0"/>
                </a:lnTo>
                <a:lnTo>
                  <a:pt x="0" y="8463169"/>
                </a:lnTo>
                <a:lnTo>
                  <a:pt x="8592049" y="8463169"/>
                </a:lnTo>
                <a:lnTo>
                  <a:pt x="8592049"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291214" y="959052"/>
            <a:ext cx="8376631" cy="1617534"/>
            <a:chOff x="0" y="0"/>
            <a:chExt cx="2206191" cy="426017"/>
          </a:xfrm>
        </p:grpSpPr>
        <p:sp>
          <p:nvSpPr>
            <p:cNvPr name="Freeform 4" id="4"/>
            <p:cNvSpPr/>
            <p:nvPr/>
          </p:nvSpPr>
          <p:spPr>
            <a:xfrm flipH="false" flipV="false" rot="0">
              <a:off x="0" y="0"/>
              <a:ext cx="2206191" cy="426017"/>
            </a:xfrm>
            <a:custGeom>
              <a:avLst/>
              <a:gdLst/>
              <a:ahLst/>
              <a:cxnLst/>
              <a:rect r="r" b="b" t="t" l="l"/>
              <a:pathLst>
                <a:path h="426017" w="2206191">
                  <a:moveTo>
                    <a:pt x="92423" y="0"/>
                  </a:moveTo>
                  <a:lnTo>
                    <a:pt x="2113768" y="0"/>
                  </a:lnTo>
                  <a:cubicBezTo>
                    <a:pt x="2164812" y="0"/>
                    <a:pt x="2206191" y="41379"/>
                    <a:pt x="2206191" y="92423"/>
                  </a:cubicBezTo>
                  <a:lnTo>
                    <a:pt x="2206191" y="333594"/>
                  </a:lnTo>
                  <a:cubicBezTo>
                    <a:pt x="2206191" y="384638"/>
                    <a:pt x="2164812" y="426017"/>
                    <a:pt x="2113768" y="426017"/>
                  </a:cubicBezTo>
                  <a:lnTo>
                    <a:pt x="92423" y="426017"/>
                  </a:lnTo>
                  <a:cubicBezTo>
                    <a:pt x="41379" y="426017"/>
                    <a:pt x="0" y="384638"/>
                    <a:pt x="0" y="333594"/>
                  </a:cubicBezTo>
                  <a:lnTo>
                    <a:pt x="0" y="92423"/>
                  </a:lnTo>
                  <a:cubicBezTo>
                    <a:pt x="0" y="41379"/>
                    <a:pt x="41379" y="0"/>
                    <a:pt x="92423" y="0"/>
                  </a:cubicBezTo>
                  <a:close/>
                </a:path>
              </a:pathLst>
            </a:custGeom>
            <a:solidFill>
              <a:srgbClr val="CB5545"/>
            </a:solidFill>
          </p:spPr>
        </p:sp>
        <p:sp>
          <p:nvSpPr>
            <p:cNvPr name="TextBox 5" id="5"/>
            <p:cNvSpPr txBox="true"/>
            <p:nvPr/>
          </p:nvSpPr>
          <p:spPr>
            <a:xfrm>
              <a:off x="0" y="-38100"/>
              <a:ext cx="2206191" cy="46411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7329762" y="7878015"/>
            <a:ext cx="6565559" cy="6631877"/>
          </a:xfrm>
          <a:custGeom>
            <a:avLst/>
            <a:gdLst/>
            <a:ahLst/>
            <a:cxnLst/>
            <a:rect r="r" b="b" t="t" l="l"/>
            <a:pathLst>
              <a:path h="6631877" w="6565559">
                <a:moveTo>
                  <a:pt x="0" y="0"/>
                </a:moveTo>
                <a:lnTo>
                  <a:pt x="6565559" y="0"/>
                </a:lnTo>
                <a:lnTo>
                  <a:pt x="6565559" y="6631878"/>
                </a:lnTo>
                <a:lnTo>
                  <a:pt x="0" y="66318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385066" y="7465481"/>
            <a:ext cx="6565559" cy="6631877"/>
          </a:xfrm>
          <a:custGeom>
            <a:avLst/>
            <a:gdLst/>
            <a:ahLst/>
            <a:cxnLst/>
            <a:rect r="r" b="b" t="t" l="l"/>
            <a:pathLst>
              <a:path h="6631877" w="6565559">
                <a:moveTo>
                  <a:pt x="0" y="0"/>
                </a:moveTo>
                <a:lnTo>
                  <a:pt x="6565559" y="0"/>
                </a:lnTo>
                <a:lnTo>
                  <a:pt x="6565559" y="6631877"/>
                </a:lnTo>
                <a:lnTo>
                  <a:pt x="0" y="66318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7600950" y="3600450"/>
            <a:ext cx="3086100" cy="30861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67F6E"/>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9144000" y="2952143"/>
            <a:ext cx="8329360" cy="2995169"/>
          </a:xfrm>
          <a:prstGeom prst="rect">
            <a:avLst/>
          </a:prstGeom>
        </p:spPr>
        <p:txBody>
          <a:bodyPr anchor="t" rtlCol="false" tIns="0" lIns="0" bIns="0" rIns="0">
            <a:spAutoFit/>
          </a:bodyPr>
          <a:lstStyle/>
          <a:p>
            <a:pPr algn="l">
              <a:lnSpc>
                <a:spcPts val="5546"/>
              </a:lnSpc>
            </a:pPr>
            <a:r>
              <a:rPr lang="en-US" b="true" sz="5900">
                <a:solidFill>
                  <a:srgbClr val="7D2116"/>
                </a:solidFill>
                <a:latin typeface="Cooper Hewitt Bold"/>
                <a:ea typeface="Cooper Hewitt Bold"/>
                <a:cs typeface="Cooper Hewitt Bold"/>
                <a:sym typeface="Cooper Hewitt Bold"/>
              </a:rPr>
              <a:t>EL SENTIDO DE LA VISTA: DE LA DISECCIÓN ORBITARIA AL CONTROL NEURONAL POR LA LUZ</a:t>
            </a:r>
          </a:p>
        </p:txBody>
      </p:sp>
      <p:sp>
        <p:nvSpPr>
          <p:cNvPr name="TextBox 12" id="12"/>
          <p:cNvSpPr txBox="true"/>
          <p:nvPr/>
        </p:nvSpPr>
        <p:spPr>
          <a:xfrm rot="0">
            <a:off x="8291214" y="752867"/>
            <a:ext cx="7963609" cy="1823719"/>
          </a:xfrm>
          <a:prstGeom prst="rect">
            <a:avLst/>
          </a:prstGeom>
        </p:spPr>
        <p:txBody>
          <a:bodyPr anchor="t" rtlCol="false" tIns="0" lIns="0" bIns="0" rIns="0">
            <a:spAutoFit/>
          </a:bodyPr>
          <a:lstStyle/>
          <a:p>
            <a:pPr algn="ctr">
              <a:lnSpc>
                <a:spcPts val="12880"/>
              </a:lnSpc>
            </a:pPr>
            <a:r>
              <a:rPr lang="en-US" sz="9200" b="true">
                <a:solidFill>
                  <a:srgbClr val="FFEAE9"/>
                </a:solidFill>
                <a:latin typeface="Cooper Hewitt Bold"/>
                <a:ea typeface="Cooper Hewitt Bold"/>
                <a:cs typeface="Cooper Hewitt Bold"/>
                <a:sym typeface="Cooper Hewitt Bold"/>
              </a:rPr>
              <a:t>Punto Ciego</a:t>
            </a:r>
          </a:p>
        </p:txBody>
      </p:sp>
      <p:sp>
        <p:nvSpPr>
          <p:cNvPr name="TextBox 13" id="13"/>
          <p:cNvSpPr txBox="true"/>
          <p:nvPr/>
        </p:nvSpPr>
        <p:spPr>
          <a:xfrm rot="0">
            <a:off x="9639556" y="6309262"/>
            <a:ext cx="7028289" cy="710590"/>
          </a:xfrm>
          <a:prstGeom prst="rect">
            <a:avLst/>
          </a:prstGeom>
        </p:spPr>
        <p:txBody>
          <a:bodyPr anchor="t" rtlCol="false" tIns="0" lIns="0" bIns="0" rIns="0">
            <a:spAutoFit/>
          </a:bodyPr>
          <a:lstStyle/>
          <a:p>
            <a:pPr algn="l">
              <a:lnSpc>
                <a:spcPts val="5804"/>
              </a:lnSpc>
            </a:pPr>
            <a:r>
              <a:rPr lang="en-US" sz="4145">
                <a:solidFill>
                  <a:srgbClr val="7D2116"/>
                </a:solidFill>
                <a:latin typeface="DM Sans"/>
                <a:ea typeface="DM Sans"/>
                <a:cs typeface="DM Sans"/>
                <a:sym typeface="DM Sans"/>
              </a:rPr>
              <a:t>Jueves 15</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FEAE9"/>
        </a:solidFill>
      </p:bgPr>
    </p:bg>
    <p:spTree>
      <p:nvGrpSpPr>
        <p:cNvPr id="1" name=""/>
        <p:cNvGrpSpPr/>
        <p:nvPr/>
      </p:nvGrpSpPr>
      <p:grpSpPr>
        <a:xfrm>
          <a:off x="0" y="0"/>
          <a:ext cx="0" cy="0"/>
          <a:chOff x="0" y="0"/>
          <a:chExt cx="0" cy="0"/>
        </a:xfrm>
      </p:grpSpPr>
      <p:sp>
        <p:nvSpPr>
          <p:cNvPr name="TextBox 2" id="2"/>
          <p:cNvSpPr txBox="true"/>
          <p:nvPr/>
        </p:nvSpPr>
        <p:spPr>
          <a:xfrm rot="0">
            <a:off x="380155" y="1698683"/>
            <a:ext cx="16966928" cy="1767608"/>
          </a:xfrm>
          <a:prstGeom prst="rect">
            <a:avLst/>
          </a:prstGeom>
        </p:spPr>
        <p:txBody>
          <a:bodyPr anchor="t" rtlCol="false" tIns="0" lIns="0" bIns="0" rIns="0">
            <a:spAutoFit/>
          </a:bodyPr>
          <a:lstStyle/>
          <a:p>
            <a:pPr algn="just" marL="554185" indent="-277093" lvl="1">
              <a:lnSpc>
                <a:spcPts val="3593"/>
              </a:lnSpc>
              <a:buFont typeface="Arial"/>
              <a:buChar char="•"/>
            </a:pPr>
            <a:r>
              <a:rPr lang="en-US" sz="2566">
                <a:solidFill>
                  <a:srgbClr val="7D2116"/>
                </a:solidFill>
                <a:latin typeface="DM Sans"/>
                <a:ea typeface="DM Sans"/>
                <a:cs typeface="DM Sans"/>
                <a:sym typeface="DM Sans"/>
              </a:rPr>
              <a:t>M</a:t>
            </a:r>
            <a:r>
              <a:rPr lang="en-US" sz="2566">
                <a:solidFill>
                  <a:srgbClr val="7D2116"/>
                </a:solidFill>
                <a:latin typeface="DM Sans"/>
                <a:ea typeface="DM Sans"/>
                <a:cs typeface="DM Sans"/>
                <a:sym typeface="DM Sans"/>
              </a:rPr>
              <a:t>orfología y Orientación:</a:t>
            </a:r>
          </a:p>
          <a:p>
            <a:pPr algn="just" marL="1108371" indent="-369457" lvl="2">
              <a:lnSpc>
                <a:spcPts val="3593"/>
              </a:lnSpc>
              <a:buFont typeface="Arial"/>
              <a:buChar char="⚬"/>
            </a:pPr>
            <a:r>
              <a:rPr lang="en-US" sz="2566">
                <a:solidFill>
                  <a:srgbClr val="7D2116"/>
                </a:solidFill>
                <a:latin typeface="DM Sans"/>
                <a:ea typeface="DM Sans"/>
                <a:cs typeface="DM Sans"/>
                <a:sym typeface="DM Sans"/>
              </a:rPr>
              <a:t>Pirámide cuadrangular con base anterior y vértice posterior.</a:t>
            </a:r>
          </a:p>
          <a:p>
            <a:pPr algn="just" marL="1108371" indent="-369457" lvl="2">
              <a:lnSpc>
                <a:spcPts val="3593"/>
              </a:lnSpc>
              <a:buFont typeface="Arial"/>
              <a:buChar char="⚬"/>
            </a:pPr>
            <a:r>
              <a:rPr lang="en-US" sz="2566">
                <a:solidFill>
                  <a:srgbClr val="7D2116"/>
                </a:solidFill>
                <a:latin typeface="DM Sans"/>
                <a:ea typeface="DM Sans"/>
                <a:cs typeface="DM Sans"/>
                <a:sym typeface="DM Sans"/>
              </a:rPr>
              <a:t>El eje de la órbita diverge aproximadamente 18° respecto al eje anteroposterior del globo ocular.</a:t>
            </a:r>
          </a:p>
          <a:p>
            <a:pPr algn="just">
              <a:lnSpc>
                <a:spcPts val="3593"/>
              </a:lnSpc>
            </a:pPr>
          </a:p>
        </p:txBody>
      </p:sp>
      <p:grpSp>
        <p:nvGrpSpPr>
          <p:cNvPr name="Group 3" id="3"/>
          <p:cNvGrpSpPr/>
          <p:nvPr/>
        </p:nvGrpSpPr>
        <p:grpSpPr>
          <a:xfrm rot="0">
            <a:off x="380155" y="327678"/>
            <a:ext cx="6906324" cy="1333617"/>
            <a:chOff x="0" y="0"/>
            <a:chExt cx="2206191" cy="426017"/>
          </a:xfrm>
        </p:grpSpPr>
        <p:sp>
          <p:nvSpPr>
            <p:cNvPr name="Freeform 4" id="4"/>
            <p:cNvSpPr/>
            <p:nvPr/>
          </p:nvSpPr>
          <p:spPr>
            <a:xfrm flipH="false" flipV="false" rot="0">
              <a:off x="0" y="0"/>
              <a:ext cx="2206191" cy="426017"/>
            </a:xfrm>
            <a:custGeom>
              <a:avLst/>
              <a:gdLst/>
              <a:ahLst/>
              <a:cxnLst/>
              <a:rect r="r" b="b" t="t" l="l"/>
              <a:pathLst>
                <a:path h="426017" w="2206191">
                  <a:moveTo>
                    <a:pt x="112099" y="0"/>
                  </a:moveTo>
                  <a:lnTo>
                    <a:pt x="2094092" y="0"/>
                  </a:lnTo>
                  <a:cubicBezTo>
                    <a:pt x="2123823" y="0"/>
                    <a:pt x="2152335" y="11810"/>
                    <a:pt x="2173358" y="32833"/>
                  </a:cubicBezTo>
                  <a:cubicBezTo>
                    <a:pt x="2194381" y="53856"/>
                    <a:pt x="2206191" y="82369"/>
                    <a:pt x="2206191" y="112099"/>
                  </a:cubicBezTo>
                  <a:lnTo>
                    <a:pt x="2206191" y="313918"/>
                  </a:lnTo>
                  <a:cubicBezTo>
                    <a:pt x="2206191" y="343649"/>
                    <a:pt x="2194381" y="372162"/>
                    <a:pt x="2173358" y="393184"/>
                  </a:cubicBezTo>
                  <a:cubicBezTo>
                    <a:pt x="2152335" y="414207"/>
                    <a:pt x="2123823" y="426017"/>
                    <a:pt x="2094092" y="426017"/>
                  </a:cubicBezTo>
                  <a:lnTo>
                    <a:pt x="112099" y="426017"/>
                  </a:lnTo>
                  <a:cubicBezTo>
                    <a:pt x="82369" y="426017"/>
                    <a:pt x="53856" y="414207"/>
                    <a:pt x="32833" y="393184"/>
                  </a:cubicBezTo>
                  <a:cubicBezTo>
                    <a:pt x="11810" y="372162"/>
                    <a:pt x="0" y="343649"/>
                    <a:pt x="0" y="313918"/>
                  </a:cubicBezTo>
                  <a:lnTo>
                    <a:pt x="0" y="112099"/>
                  </a:lnTo>
                  <a:cubicBezTo>
                    <a:pt x="0" y="82369"/>
                    <a:pt x="11810" y="53856"/>
                    <a:pt x="32833" y="32833"/>
                  </a:cubicBezTo>
                  <a:cubicBezTo>
                    <a:pt x="53856" y="11810"/>
                    <a:pt x="82369" y="0"/>
                    <a:pt x="112099" y="0"/>
                  </a:cubicBezTo>
                  <a:close/>
                </a:path>
              </a:pathLst>
            </a:custGeom>
            <a:solidFill>
              <a:srgbClr val="CB5545"/>
            </a:solidFill>
          </p:spPr>
        </p:sp>
        <p:sp>
          <p:nvSpPr>
            <p:cNvPr name="TextBox 5" id="5"/>
            <p:cNvSpPr txBox="true"/>
            <p:nvPr/>
          </p:nvSpPr>
          <p:spPr>
            <a:xfrm>
              <a:off x="0" y="-38100"/>
              <a:ext cx="2206191" cy="464117"/>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550418" y="481645"/>
            <a:ext cx="6565797" cy="825659"/>
          </a:xfrm>
          <a:prstGeom prst="rect">
            <a:avLst/>
          </a:prstGeom>
        </p:spPr>
        <p:txBody>
          <a:bodyPr anchor="t" rtlCol="false" tIns="0" lIns="0" bIns="0" rIns="0">
            <a:spAutoFit/>
          </a:bodyPr>
          <a:lstStyle/>
          <a:p>
            <a:pPr algn="ctr">
              <a:lnSpc>
                <a:spcPts val="5771"/>
              </a:lnSpc>
            </a:pPr>
            <a:r>
              <a:rPr lang="en-US" sz="4122" b="true">
                <a:solidFill>
                  <a:srgbClr val="FFEAE9"/>
                </a:solidFill>
                <a:latin typeface="Cooper Hewitt Bold"/>
                <a:ea typeface="Cooper Hewitt Bold"/>
                <a:cs typeface="Cooper Hewitt Bold"/>
                <a:sym typeface="Cooper Hewitt Bold"/>
              </a:rPr>
              <a:t>Morfologia y orientacion</a:t>
            </a:r>
          </a:p>
        </p:txBody>
      </p:sp>
      <p:sp>
        <p:nvSpPr>
          <p:cNvPr name="TextBox 7" id="7"/>
          <p:cNvSpPr txBox="true"/>
          <p:nvPr/>
        </p:nvSpPr>
        <p:spPr>
          <a:xfrm rot="0">
            <a:off x="380155" y="2973198"/>
            <a:ext cx="16966928" cy="4445380"/>
          </a:xfrm>
          <a:prstGeom prst="rect">
            <a:avLst/>
          </a:prstGeom>
        </p:spPr>
        <p:txBody>
          <a:bodyPr anchor="t" rtlCol="false" tIns="0" lIns="0" bIns="0" rIns="0">
            <a:spAutoFit/>
          </a:bodyPr>
          <a:lstStyle/>
          <a:p>
            <a:pPr algn="just" marL="554185" indent="-277093" lvl="1">
              <a:lnSpc>
                <a:spcPts val="3593"/>
              </a:lnSpc>
              <a:buFont typeface="Arial"/>
              <a:buChar char="•"/>
            </a:pPr>
            <a:r>
              <a:rPr lang="en-US" sz="2566">
                <a:solidFill>
                  <a:srgbClr val="7D2116"/>
                </a:solidFill>
                <a:latin typeface="DM Sans"/>
                <a:ea typeface="DM Sans"/>
                <a:cs typeface="DM Sans"/>
                <a:sym typeface="DM Sans"/>
              </a:rPr>
              <a:t>Paredes Óseas:</a:t>
            </a:r>
          </a:p>
          <a:p>
            <a:pPr algn="just" marL="554185" indent="-277093" lvl="1">
              <a:lnSpc>
                <a:spcPts val="3593"/>
              </a:lnSpc>
              <a:buFont typeface="Arial"/>
              <a:buChar char="•"/>
            </a:pPr>
            <a:r>
              <a:rPr lang="en-US" sz="2566">
                <a:solidFill>
                  <a:srgbClr val="7D2116"/>
                </a:solidFill>
                <a:latin typeface="DM Sans"/>
                <a:ea typeface="DM Sans"/>
                <a:cs typeface="DM Sans"/>
                <a:sym typeface="DM Sans"/>
              </a:rPr>
              <a:t>Superi</a:t>
            </a:r>
            <a:r>
              <a:rPr lang="en-US" sz="2566">
                <a:solidFill>
                  <a:srgbClr val="7D2116"/>
                </a:solidFill>
                <a:latin typeface="DM Sans"/>
                <a:ea typeface="DM Sans"/>
                <a:cs typeface="DM Sans"/>
                <a:sym typeface="DM Sans"/>
              </a:rPr>
              <a:t>or (Techo): Cara orbitaria del hueso frontal y ala menor del esfenoides (alberga la fosa lagrimal y fosita troclear). Relación con fosa craneal anterior.</a:t>
            </a:r>
          </a:p>
          <a:p>
            <a:pPr algn="just" marL="554185" indent="-277093" lvl="1">
              <a:lnSpc>
                <a:spcPts val="3593"/>
              </a:lnSpc>
              <a:buFont typeface="Arial"/>
              <a:buChar char="•"/>
            </a:pPr>
            <a:r>
              <a:rPr lang="en-US" sz="2566">
                <a:solidFill>
                  <a:srgbClr val="7D2116"/>
                </a:solidFill>
                <a:latin typeface="DM Sans"/>
                <a:ea typeface="DM Sans"/>
                <a:cs typeface="DM Sans"/>
                <a:sym typeface="DM Sans"/>
              </a:rPr>
              <a:t>Inferior (Piso): Proceso cigomático del maxilar, hueso cigomático y proceso orbitario del palatino. Canal y conducto infraorbitario.</a:t>
            </a:r>
          </a:p>
          <a:p>
            <a:pPr algn="just" marL="554185" indent="-277093" lvl="1">
              <a:lnSpc>
                <a:spcPts val="3593"/>
              </a:lnSpc>
              <a:buFont typeface="Arial"/>
              <a:buChar char="•"/>
            </a:pPr>
            <a:r>
              <a:rPr lang="en-US" sz="2566">
                <a:solidFill>
                  <a:srgbClr val="7D2116"/>
                </a:solidFill>
                <a:latin typeface="DM Sans"/>
                <a:ea typeface="DM Sans"/>
                <a:cs typeface="DM Sans"/>
                <a:sym typeface="DM Sans"/>
              </a:rPr>
              <a:t>Medial: Proceso frontal del maxilar, hueso lagrimal, lámina orbitaria del etmoides y cuerpo del esfenoides. Presenta el surco lagrimal y conducto nasolagrimal.</a:t>
            </a:r>
          </a:p>
          <a:p>
            <a:pPr algn="just" marL="554185" indent="-277093" lvl="1">
              <a:lnSpc>
                <a:spcPts val="3593"/>
              </a:lnSpc>
              <a:buFont typeface="Arial"/>
              <a:buChar char="•"/>
            </a:pPr>
            <a:r>
              <a:rPr lang="en-US" sz="2566">
                <a:solidFill>
                  <a:srgbClr val="7D2116"/>
                </a:solidFill>
                <a:latin typeface="DM Sans"/>
                <a:ea typeface="DM Sans"/>
                <a:cs typeface="DM Sans"/>
                <a:sym typeface="DM Sans"/>
              </a:rPr>
              <a:t>Lateral: Cara orbitaria del ala mayor del esfenoides y proceso frontal del cigomático. Separa la órbita de la fosa temporal.</a:t>
            </a:r>
          </a:p>
          <a:p>
            <a:pPr algn="just">
              <a:lnSpc>
                <a:spcPts val="3593"/>
              </a:lnSpc>
            </a:pPr>
          </a:p>
        </p:txBody>
      </p:sp>
      <p:sp>
        <p:nvSpPr>
          <p:cNvPr name="TextBox 8" id="8"/>
          <p:cNvSpPr txBox="true"/>
          <p:nvPr/>
        </p:nvSpPr>
        <p:spPr>
          <a:xfrm rot="0">
            <a:off x="550418" y="7018430"/>
            <a:ext cx="16966928" cy="428722"/>
          </a:xfrm>
          <a:prstGeom prst="rect">
            <a:avLst/>
          </a:prstGeom>
        </p:spPr>
        <p:txBody>
          <a:bodyPr anchor="t" rtlCol="false" tIns="0" lIns="0" bIns="0" rIns="0">
            <a:spAutoFit/>
          </a:bodyPr>
          <a:lstStyle/>
          <a:p>
            <a:pPr algn="just" marL="554185" indent="-277093" lvl="1">
              <a:lnSpc>
                <a:spcPts val="3593"/>
              </a:lnSpc>
              <a:buFont typeface="Arial"/>
              <a:buChar char="•"/>
            </a:pPr>
            <a:r>
              <a:rPr lang="en-US" sz="2566">
                <a:solidFill>
                  <a:srgbClr val="7D2116"/>
                </a:solidFill>
                <a:latin typeface="DM Sans"/>
                <a:ea typeface="DM Sans"/>
                <a:cs typeface="DM Sans"/>
                <a:sym typeface="DM Sans"/>
              </a:rPr>
              <a:t>ss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EAE9"/>
        </a:solidFill>
      </p:bgPr>
    </p:bg>
    <p:spTree>
      <p:nvGrpSpPr>
        <p:cNvPr id="1" name=""/>
        <p:cNvGrpSpPr/>
        <p:nvPr/>
      </p:nvGrpSpPr>
      <p:grpSpPr>
        <a:xfrm>
          <a:off x="0" y="0"/>
          <a:ext cx="0" cy="0"/>
          <a:chOff x="0" y="0"/>
          <a:chExt cx="0" cy="0"/>
        </a:xfrm>
      </p:grpSpPr>
      <p:sp>
        <p:nvSpPr>
          <p:cNvPr name="Freeform 2" id="2"/>
          <p:cNvSpPr/>
          <p:nvPr/>
        </p:nvSpPr>
        <p:spPr>
          <a:xfrm flipH="false" flipV="false" rot="0">
            <a:off x="2391673" y="-428278"/>
            <a:ext cx="13504654" cy="10643704"/>
          </a:xfrm>
          <a:custGeom>
            <a:avLst/>
            <a:gdLst/>
            <a:ahLst/>
            <a:cxnLst/>
            <a:rect r="r" b="b" t="t" l="l"/>
            <a:pathLst>
              <a:path h="10643704" w="13504654">
                <a:moveTo>
                  <a:pt x="0" y="0"/>
                </a:moveTo>
                <a:lnTo>
                  <a:pt x="13504654" y="0"/>
                </a:lnTo>
                <a:lnTo>
                  <a:pt x="13504654" y="10643703"/>
                </a:lnTo>
                <a:lnTo>
                  <a:pt x="0" y="10643703"/>
                </a:lnTo>
                <a:lnTo>
                  <a:pt x="0" y="0"/>
                </a:lnTo>
                <a:close/>
              </a:path>
            </a:pathLst>
          </a:custGeom>
          <a:blipFill>
            <a:blip r:embed="rId2"/>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EAE9"/>
        </a:solidFill>
      </p:bgPr>
    </p:bg>
    <p:spTree>
      <p:nvGrpSpPr>
        <p:cNvPr id="1" name=""/>
        <p:cNvGrpSpPr/>
        <p:nvPr/>
      </p:nvGrpSpPr>
      <p:grpSpPr>
        <a:xfrm>
          <a:off x="0" y="0"/>
          <a:ext cx="0" cy="0"/>
          <a:chOff x="0" y="0"/>
          <a:chExt cx="0" cy="0"/>
        </a:xfrm>
      </p:grpSpPr>
      <p:grpSp>
        <p:nvGrpSpPr>
          <p:cNvPr name="Group 2" id="2"/>
          <p:cNvGrpSpPr/>
          <p:nvPr/>
        </p:nvGrpSpPr>
        <p:grpSpPr>
          <a:xfrm rot="0">
            <a:off x="1667995" y="5978704"/>
            <a:ext cx="10660833" cy="2985061"/>
            <a:chOff x="0" y="0"/>
            <a:chExt cx="1002044" cy="280575"/>
          </a:xfrm>
        </p:grpSpPr>
        <p:sp>
          <p:nvSpPr>
            <p:cNvPr name="Freeform 3" id="3"/>
            <p:cNvSpPr/>
            <p:nvPr/>
          </p:nvSpPr>
          <p:spPr>
            <a:xfrm flipH="false" flipV="false" rot="0">
              <a:off x="0" y="0"/>
              <a:ext cx="1002044" cy="280575"/>
            </a:xfrm>
            <a:custGeom>
              <a:avLst/>
              <a:gdLst/>
              <a:ahLst/>
              <a:cxnLst/>
              <a:rect r="r" b="b" t="t" l="l"/>
              <a:pathLst>
                <a:path h="280575" w="1002044">
                  <a:moveTo>
                    <a:pt x="54465" y="0"/>
                  </a:moveTo>
                  <a:lnTo>
                    <a:pt x="947579" y="0"/>
                  </a:lnTo>
                  <a:cubicBezTo>
                    <a:pt x="962024" y="0"/>
                    <a:pt x="975877" y="5738"/>
                    <a:pt x="986092" y="15952"/>
                  </a:cubicBezTo>
                  <a:cubicBezTo>
                    <a:pt x="996306" y="26167"/>
                    <a:pt x="1002044" y="40020"/>
                    <a:pt x="1002044" y="54465"/>
                  </a:cubicBezTo>
                  <a:lnTo>
                    <a:pt x="1002044" y="226110"/>
                  </a:lnTo>
                  <a:cubicBezTo>
                    <a:pt x="1002044" y="240555"/>
                    <a:pt x="996306" y="254408"/>
                    <a:pt x="986092" y="264622"/>
                  </a:cubicBezTo>
                  <a:cubicBezTo>
                    <a:pt x="975877" y="274837"/>
                    <a:pt x="962024" y="280575"/>
                    <a:pt x="947579" y="280575"/>
                  </a:cubicBezTo>
                  <a:lnTo>
                    <a:pt x="54465" y="280575"/>
                  </a:lnTo>
                  <a:cubicBezTo>
                    <a:pt x="40020" y="280575"/>
                    <a:pt x="26167" y="274837"/>
                    <a:pt x="15952" y="264622"/>
                  </a:cubicBezTo>
                  <a:cubicBezTo>
                    <a:pt x="5738" y="254408"/>
                    <a:pt x="0" y="240555"/>
                    <a:pt x="0" y="226110"/>
                  </a:cubicBezTo>
                  <a:lnTo>
                    <a:pt x="0" y="54465"/>
                  </a:lnTo>
                  <a:cubicBezTo>
                    <a:pt x="0" y="40020"/>
                    <a:pt x="5738" y="26167"/>
                    <a:pt x="15952" y="15952"/>
                  </a:cubicBezTo>
                  <a:cubicBezTo>
                    <a:pt x="26167" y="5738"/>
                    <a:pt x="40020" y="0"/>
                    <a:pt x="54465" y="0"/>
                  </a:cubicBezTo>
                  <a:close/>
                </a:path>
              </a:pathLst>
            </a:custGeom>
            <a:solidFill>
              <a:srgbClr val="7D2116"/>
            </a:solidFill>
          </p:spPr>
        </p:sp>
        <p:sp>
          <p:nvSpPr>
            <p:cNvPr name="TextBox 4" id="4"/>
            <p:cNvSpPr txBox="true"/>
            <p:nvPr/>
          </p:nvSpPr>
          <p:spPr>
            <a:xfrm>
              <a:off x="0" y="-38100"/>
              <a:ext cx="1002044" cy="3186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67995" y="2814028"/>
            <a:ext cx="10660833" cy="2926391"/>
            <a:chOff x="0" y="0"/>
            <a:chExt cx="1002044" cy="275060"/>
          </a:xfrm>
        </p:grpSpPr>
        <p:sp>
          <p:nvSpPr>
            <p:cNvPr name="Freeform 6" id="6"/>
            <p:cNvSpPr/>
            <p:nvPr/>
          </p:nvSpPr>
          <p:spPr>
            <a:xfrm flipH="false" flipV="false" rot="0">
              <a:off x="0" y="0"/>
              <a:ext cx="1002044" cy="275060"/>
            </a:xfrm>
            <a:custGeom>
              <a:avLst/>
              <a:gdLst/>
              <a:ahLst/>
              <a:cxnLst/>
              <a:rect r="r" b="b" t="t" l="l"/>
              <a:pathLst>
                <a:path h="275060" w="1002044">
                  <a:moveTo>
                    <a:pt x="54465" y="0"/>
                  </a:moveTo>
                  <a:lnTo>
                    <a:pt x="947579" y="0"/>
                  </a:lnTo>
                  <a:cubicBezTo>
                    <a:pt x="962024" y="0"/>
                    <a:pt x="975877" y="5738"/>
                    <a:pt x="986092" y="15952"/>
                  </a:cubicBezTo>
                  <a:cubicBezTo>
                    <a:pt x="996306" y="26167"/>
                    <a:pt x="1002044" y="40020"/>
                    <a:pt x="1002044" y="54465"/>
                  </a:cubicBezTo>
                  <a:lnTo>
                    <a:pt x="1002044" y="220595"/>
                  </a:lnTo>
                  <a:cubicBezTo>
                    <a:pt x="1002044" y="235040"/>
                    <a:pt x="996306" y="248894"/>
                    <a:pt x="986092" y="259108"/>
                  </a:cubicBezTo>
                  <a:cubicBezTo>
                    <a:pt x="975877" y="269322"/>
                    <a:pt x="962024" y="275060"/>
                    <a:pt x="947579" y="275060"/>
                  </a:cubicBezTo>
                  <a:lnTo>
                    <a:pt x="54465" y="275060"/>
                  </a:lnTo>
                  <a:cubicBezTo>
                    <a:pt x="40020" y="275060"/>
                    <a:pt x="26167" y="269322"/>
                    <a:pt x="15952" y="259108"/>
                  </a:cubicBezTo>
                  <a:cubicBezTo>
                    <a:pt x="5738" y="248894"/>
                    <a:pt x="0" y="235040"/>
                    <a:pt x="0" y="220595"/>
                  </a:cubicBezTo>
                  <a:lnTo>
                    <a:pt x="0" y="54465"/>
                  </a:lnTo>
                  <a:cubicBezTo>
                    <a:pt x="0" y="40020"/>
                    <a:pt x="5738" y="26167"/>
                    <a:pt x="15952" y="15952"/>
                  </a:cubicBezTo>
                  <a:cubicBezTo>
                    <a:pt x="26167" y="5738"/>
                    <a:pt x="40020" y="0"/>
                    <a:pt x="54465" y="0"/>
                  </a:cubicBezTo>
                  <a:close/>
                </a:path>
              </a:pathLst>
            </a:custGeom>
            <a:solidFill>
              <a:srgbClr val="7D2116"/>
            </a:solidFill>
          </p:spPr>
        </p:sp>
        <p:sp>
          <p:nvSpPr>
            <p:cNvPr name="TextBox 7" id="7"/>
            <p:cNvSpPr txBox="true"/>
            <p:nvPr/>
          </p:nvSpPr>
          <p:spPr>
            <a:xfrm>
              <a:off x="0" y="-38100"/>
              <a:ext cx="1002044" cy="31316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1234279">
            <a:off x="11267381" y="3073980"/>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TextBox 9" id="9"/>
          <p:cNvSpPr txBox="true"/>
          <p:nvPr/>
        </p:nvSpPr>
        <p:spPr>
          <a:xfrm rot="0">
            <a:off x="2297403" y="3066866"/>
            <a:ext cx="8555985" cy="2392140"/>
          </a:xfrm>
          <a:prstGeom prst="rect">
            <a:avLst/>
          </a:prstGeom>
        </p:spPr>
        <p:txBody>
          <a:bodyPr anchor="t" rtlCol="false" tIns="0" lIns="0" bIns="0" rIns="0">
            <a:spAutoFit/>
          </a:bodyPr>
          <a:lstStyle/>
          <a:p>
            <a:pPr algn="just">
              <a:lnSpc>
                <a:spcPts val="3181"/>
              </a:lnSpc>
            </a:pPr>
            <a:r>
              <a:rPr lang="en-US" sz="2410">
                <a:solidFill>
                  <a:srgbClr val="FFEAE9"/>
                </a:solidFill>
                <a:latin typeface="DM Sans"/>
                <a:ea typeface="DM Sans"/>
                <a:cs typeface="DM Sans"/>
                <a:sym typeface="DM Sans"/>
              </a:rPr>
              <a:t>Lorem ipsum dolor sit amet, consectetur adipiscing elit. Proin malesuada interdum libero, nec vehicula metus eleifend sit amet. Nullam nec ligula at turpis volutpat luctus. Aenean iaculis mauris ut neque gravida, vel suscipit eros sollicitudin. Morbi consequat sapien in lectus volutpat, a elementum odio fermentum. </a:t>
            </a:r>
          </a:p>
        </p:txBody>
      </p:sp>
      <p:sp>
        <p:nvSpPr>
          <p:cNvPr name="TextBox 10" id="10"/>
          <p:cNvSpPr txBox="true"/>
          <p:nvPr/>
        </p:nvSpPr>
        <p:spPr>
          <a:xfrm rot="0">
            <a:off x="1667995" y="1285135"/>
            <a:ext cx="13113095" cy="1290768"/>
          </a:xfrm>
          <a:prstGeom prst="rect">
            <a:avLst/>
          </a:prstGeom>
        </p:spPr>
        <p:txBody>
          <a:bodyPr anchor="t" rtlCol="false" tIns="0" lIns="0" bIns="0" rIns="0">
            <a:spAutoFit/>
          </a:bodyPr>
          <a:lstStyle/>
          <a:p>
            <a:pPr algn="l">
              <a:lnSpc>
                <a:spcPts val="7731"/>
              </a:lnSpc>
            </a:pPr>
            <a:r>
              <a:rPr lang="en-US" b="true" sz="8225">
                <a:solidFill>
                  <a:srgbClr val="7D2116"/>
                </a:solidFill>
                <a:latin typeface="Cooper Hewitt Bold"/>
                <a:ea typeface="Cooper Hewitt Bold"/>
                <a:cs typeface="Cooper Hewitt Bold"/>
                <a:sym typeface="Cooper Hewitt Bold"/>
              </a:rPr>
              <a:t>UNDERSTANDING VISION</a:t>
            </a:r>
          </a:p>
        </p:txBody>
      </p:sp>
      <p:sp>
        <p:nvSpPr>
          <p:cNvPr name="TextBox 11" id="11"/>
          <p:cNvSpPr txBox="true"/>
          <p:nvPr/>
        </p:nvSpPr>
        <p:spPr>
          <a:xfrm rot="0">
            <a:off x="2297403" y="6260877"/>
            <a:ext cx="8555985" cy="2392140"/>
          </a:xfrm>
          <a:prstGeom prst="rect">
            <a:avLst/>
          </a:prstGeom>
        </p:spPr>
        <p:txBody>
          <a:bodyPr anchor="t" rtlCol="false" tIns="0" lIns="0" bIns="0" rIns="0">
            <a:spAutoFit/>
          </a:bodyPr>
          <a:lstStyle/>
          <a:p>
            <a:pPr algn="just">
              <a:lnSpc>
                <a:spcPts val="3181"/>
              </a:lnSpc>
            </a:pPr>
            <a:r>
              <a:rPr lang="en-US" sz="2410">
                <a:solidFill>
                  <a:srgbClr val="FFEAE9"/>
                </a:solidFill>
                <a:latin typeface="DM Sans"/>
                <a:ea typeface="DM Sans"/>
                <a:cs typeface="DM Sans"/>
                <a:sym typeface="DM Sans"/>
              </a:rPr>
              <a:t>Lorem ipsum dolor sit amet, consectetur adipiscing elit. Proin malesuada interdum libero, nec vehicula metus eleifend sit amet. Nullam nec ligula at turpis volutpat luctus. Aenean iaculis mauris ut neque gravida, vel suscipit eros sollicitudin. Morbi consequat sapien in lectus volutpat, a elementum odio fermentum.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EAE9"/>
        </a:solidFill>
      </p:bgPr>
    </p:bg>
    <p:spTree>
      <p:nvGrpSpPr>
        <p:cNvPr id="1" name=""/>
        <p:cNvGrpSpPr/>
        <p:nvPr/>
      </p:nvGrpSpPr>
      <p:grpSpPr>
        <a:xfrm>
          <a:off x="0" y="0"/>
          <a:ext cx="0" cy="0"/>
          <a:chOff x="0" y="0"/>
          <a:chExt cx="0" cy="0"/>
        </a:xfrm>
      </p:grpSpPr>
      <p:grpSp>
        <p:nvGrpSpPr>
          <p:cNvPr name="Group 2" id="2"/>
          <p:cNvGrpSpPr/>
          <p:nvPr/>
        </p:nvGrpSpPr>
        <p:grpSpPr>
          <a:xfrm rot="0">
            <a:off x="1580314" y="6160637"/>
            <a:ext cx="5135393" cy="2722037"/>
            <a:chOff x="0" y="0"/>
            <a:chExt cx="482691" cy="255853"/>
          </a:xfrm>
        </p:grpSpPr>
        <p:sp>
          <p:nvSpPr>
            <p:cNvPr name="Freeform 3" id="3"/>
            <p:cNvSpPr/>
            <p:nvPr/>
          </p:nvSpPr>
          <p:spPr>
            <a:xfrm flipH="false" flipV="false" rot="0">
              <a:off x="0" y="0"/>
              <a:ext cx="482691" cy="255853"/>
            </a:xfrm>
            <a:custGeom>
              <a:avLst/>
              <a:gdLst/>
              <a:ahLst/>
              <a:cxnLst/>
              <a:rect r="r" b="b" t="t" l="l"/>
              <a:pathLst>
                <a:path h="255853" w="482691">
                  <a:moveTo>
                    <a:pt x="116082" y="0"/>
                  </a:moveTo>
                  <a:lnTo>
                    <a:pt x="366609" y="0"/>
                  </a:lnTo>
                  <a:cubicBezTo>
                    <a:pt x="430719" y="0"/>
                    <a:pt x="482691" y="51972"/>
                    <a:pt x="482691" y="116082"/>
                  </a:cubicBezTo>
                  <a:lnTo>
                    <a:pt x="482691" y="139770"/>
                  </a:lnTo>
                  <a:cubicBezTo>
                    <a:pt x="482691" y="170557"/>
                    <a:pt x="470461" y="200083"/>
                    <a:pt x="448692" y="221853"/>
                  </a:cubicBezTo>
                  <a:cubicBezTo>
                    <a:pt x="426922" y="243622"/>
                    <a:pt x="397396" y="255853"/>
                    <a:pt x="366609" y="255853"/>
                  </a:cubicBezTo>
                  <a:lnTo>
                    <a:pt x="116082" y="255853"/>
                  </a:lnTo>
                  <a:cubicBezTo>
                    <a:pt x="85295" y="255853"/>
                    <a:pt x="55769" y="243622"/>
                    <a:pt x="34000" y="221853"/>
                  </a:cubicBezTo>
                  <a:cubicBezTo>
                    <a:pt x="12230" y="200083"/>
                    <a:pt x="0" y="170557"/>
                    <a:pt x="0" y="139770"/>
                  </a:cubicBezTo>
                  <a:lnTo>
                    <a:pt x="0" y="116082"/>
                  </a:lnTo>
                  <a:cubicBezTo>
                    <a:pt x="0" y="85295"/>
                    <a:pt x="12230" y="55769"/>
                    <a:pt x="34000" y="34000"/>
                  </a:cubicBezTo>
                  <a:cubicBezTo>
                    <a:pt x="55769" y="12230"/>
                    <a:pt x="85295" y="0"/>
                    <a:pt x="116082" y="0"/>
                  </a:cubicBezTo>
                  <a:close/>
                </a:path>
              </a:pathLst>
            </a:custGeom>
            <a:solidFill>
              <a:srgbClr val="7D2116"/>
            </a:solidFill>
          </p:spPr>
        </p:sp>
        <p:sp>
          <p:nvSpPr>
            <p:cNvPr name="TextBox 4" id="4"/>
            <p:cNvSpPr txBox="true"/>
            <p:nvPr/>
          </p:nvSpPr>
          <p:spPr>
            <a:xfrm>
              <a:off x="0" y="-38100"/>
              <a:ext cx="482691" cy="29395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28700" y="1312856"/>
            <a:ext cx="5327232" cy="4847781"/>
          </a:xfrm>
          <a:custGeom>
            <a:avLst/>
            <a:gdLst/>
            <a:ahLst/>
            <a:cxnLst/>
            <a:rect r="r" b="b" t="t" l="l"/>
            <a:pathLst>
              <a:path h="4847781" w="5327232">
                <a:moveTo>
                  <a:pt x="0" y="0"/>
                </a:moveTo>
                <a:lnTo>
                  <a:pt x="5327232" y="0"/>
                </a:lnTo>
                <a:lnTo>
                  <a:pt x="5327232" y="4847781"/>
                </a:lnTo>
                <a:lnTo>
                  <a:pt x="0" y="48477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284023" y="2305921"/>
            <a:ext cx="859977" cy="859977"/>
          </a:xfrm>
          <a:custGeom>
            <a:avLst/>
            <a:gdLst/>
            <a:ahLst/>
            <a:cxnLst/>
            <a:rect r="r" b="b" t="t" l="l"/>
            <a:pathLst>
              <a:path h="859977" w="859977">
                <a:moveTo>
                  <a:pt x="0" y="0"/>
                </a:moveTo>
                <a:lnTo>
                  <a:pt x="859977" y="0"/>
                </a:lnTo>
                <a:lnTo>
                  <a:pt x="859977" y="859977"/>
                </a:lnTo>
                <a:lnTo>
                  <a:pt x="0" y="8599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9570542" y="1539456"/>
            <a:ext cx="7688758" cy="2081900"/>
          </a:xfrm>
          <a:prstGeom prst="rect">
            <a:avLst/>
          </a:prstGeom>
        </p:spPr>
        <p:txBody>
          <a:bodyPr anchor="t" rtlCol="false" tIns="0" lIns="0" bIns="0" rIns="0">
            <a:spAutoFit/>
          </a:bodyPr>
          <a:lstStyle/>
          <a:p>
            <a:pPr algn="just">
              <a:lnSpc>
                <a:spcPts val="3374"/>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 Aenean iaculis mauris ut neque gravida, vel suscipit eros sollicitudin. </a:t>
            </a:r>
          </a:p>
        </p:txBody>
      </p:sp>
      <p:sp>
        <p:nvSpPr>
          <p:cNvPr name="TextBox 8" id="8"/>
          <p:cNvSpPr txBox="true"/>
          <p:nvPr/>
        </p:nvSpPr>
        <p:spPr>
          <a:xfrm rot="0">
            <a:off x="2069173" y="6370436"/>
            <a:ext cx="4157674" cy="2264340"/>
          </a:xfrm>
          <a:prstGeom prst="rect">
            <a:avLst/>
          </a:prstGeom>
        </p:spPr>
        <p:txBody>
          <a:bodyPr anchor="t" rtlCol="false" tIns="0" lIns="0" bIns="0" rIns="0">
            <a:spAutoFit/>
          </a:bodyPr>
          <a:lstStyle/>
          <a:p>
            <a:pPr algn="ctr">
              <a:lnSpc>
                <a:spcPts val="7731"/>
              </a:lnSpc>
            </a:pPr>
            <a:r>
              <a:rPr lang="en-US" b="true" sz="8225">
                <a:solidFill>
                  <a:srgbClr val="FFEAE9"/>
                </a:solidFill>
                <a:latin typeface="Cooper Hewitt Bold"/>
                <a:ea typeface="Cooper Hewitt Bold"/>
                <a:cs typeface="Cooper Hewitt Bold"/>
                <a:sym typeface="Cooper Hewitt Bold"/>
              </a:rPr>
              <a:t>K</a:t>
            </a:r>
            <a:r>
              <a:rPr lang="en-US" b="true" sz="8225">
                <a:solidFill>
                  <a:srgbClr val="FFEAE9"/>
                </a:solidFill>
                <a:latin typeface="Cooper Hewitt Bold"/>
                <a:ea typeface="Cooper Hewitt Bold"/>
                <a:cs typeface="Cooper Hewitt Bold"/>
                <a:sym typeface="Cooper Hewitt Bold"/>
              </a:rPr>
              <a:t>EY FACTS</a:t>
            </a:r>
          </a:p>
        </p:txBody>
      </p:sp>
      <p:sp>
        <p:nvSpPr>
          <p:cNvPr name="TextBox 9" id="9"/>
          <p:cNvSpPr txBox="true"/>
          <p:nvPr/>
        </p:nvSpPr>
        <p:spPr>
          <a:xfrm rot="0">
            <a:off x="9570542" y="4078738"/>
            <a:ext cx="7688758" cy="2081900"/>
          </a:xfrm>
          <a:prstGeom prst="rect">
            <a:avLst/>
          </a:prstGeom>
        </p:spPr>
        <p:txBody>
          <a:bodyPr anchor="t" rtlCol="false" tIns="0" lIns="0" bIns="0" rIns="0">
            <a:spAutoFit/>
          </a:bodyPr>
          <a:lstStyle/>
          <a:p>
            <a:pPr algn="just">
              <a:lnSpc>
                <a:spcPts val="3374"/>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 Aenean iaculis mauris ut neque gravida, vel suscipit eros sollicitudin. </a:t>
            </a:r>
          </a:p>
        </p:txBody>
      </p:sp>
      <p:sp>
        <p:nvSpPr>
          <p:cNvPr name="TextBox 10" id="10"/>
          <p:cNvSpPr txBox="true"/>
          <p:nvPr/>
        </p:nvSpPr>
        <p:spPr>
          <a:xfrm rot="0">
            <a:off x="9570542" y="6618020"/>
            <a:ext cx="7688758" cy="2081900"/>
          </a:xfrm>
          <a:prstGeom prst="rect">
            <a:avLst/>
          </a:prstGeom>
        </p:spPr>
        <p:txBody>
          <a:bodyPr anchor="t" rtlCol="false" tIns="0" lIns="0" bIns="0" rIns="0">
            <a:spAutoFit/>
          </a:bodyPr>
          <a:lstStyle/>
          <a:p>
            <a:pPr algn="just">
              <a:lnSpc>
                <a:spcPts val="3374"/>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 Aenean iaculis mauris ut neque gravida, vel suscipit eros sollicitudin. </a:t>
            </a:r>
          </a:p>
        </p:txBody>
      </p:sp>
      <p:sp>
        <p:nvSpPr>
          <p:cNvPr name="Freeform 11" id="11"/>
          <p:cNvSpPr/>
          <p:nvPr/>
        </p:nvSpPr>
        <p:spPr>
          <a:xfrm flipH="false" flipV="false" rot="0">
            <a:off x="8284023" y="4713511"/>
            <a:ext cx="859977" cy="859977"/>
          </a:xfrm>
          <a:custGeom>
            <a:avLst/>
            <a:gdLst/>
            <a:ahLst/>
            <a:cxnLst/>
            <a:rect r="r" b="b" t="t" l="l"/>
            <a:pathLst>
              <a:path h="859977" w="859977">
                <a:moveTo>
                  <a:pt x="0" y="0"/>
                </a:moveTo>
                <a:lnTo>
                  <a:pt x="859977" y="0"/>
                </a:lnTo>
                <a:lnTo>
                  <a:pt x="859977" y="859978"/>
                </a:lnTo>
                <a:lnTo>
                  <a:pt x="0" y="8599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8284023" y="7252793"/>
            <a:ext cx="859977" cy="859977"/>
          </a:xfrm>
          <a:custGeom>
            <a:avLst/>
            <a:gdLst/>
            <a:ahLst/>
            <a:cxnLst/>
            <a:rect r="r" b="b" t="t" l="l"/>
            <a:pathLst>
              <a:path h="859977" w="859977">
                <a:moveTo>
                  <a:pt x="0" y="0"/>
                </a:moveTo>
                <a:lnTo>
                  <a:pt x="859977" y="0"/>
                </a:lnTo>
                <a:lnTo>
                  <a:pt x="859977" y="859977"/>
                </a:lnTo>
                <a:lnTo>
                  <a:pt x="0" y="8599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EAE9"/>
        </a:solidFill>
      </p:bgPr>
    </p:bg>
    <p:spTree>
      <p:nvGrpSpPr>
        <p:cNvPr id="1" name=""/>
        <p:cNvGrpSpPr/>
        <p:nvPr/>
      </p:nvGrpSpPr>
      <p:grpSpPr>
        <a:xfrm>
          <a:off x="0" y="0"/>
          <a:ext cx="0" cy="0"/>
          <a:chOff x="0" y="0"/>
          <a:chExt cx="0" cy="0"/>
        </a:xfrm>
      </p:grpSpPr>
      <p:sp>
        <p:nvSpPr>
          <p:cNvPr name="Freeform 2" id="2"/>
          <p:cNvSpPr/>
          <p:nvPr/>
        </p:nvSpPr>
        <p:spPr>
          <a:xfrm flipH="false" flipV="false" rot="0">
            <a:off x="10840441" y="-494519"/>
            <a:ext cx="10152126" cy="10254673"/>
          </a:xfrm>
          <a:custGeom>
            <a:avLst/>
            <a:gdLst/>
            <a:ahLst/>
            <a:cxnLst/>
            <a:rect r="r" b="b" t="t" l="l"/>
            <a:pathLst>
              <a:path h="10254673" w="10152126">
                <a:moveTo>
                  <a:pt x="0" y="0"/>
                </a:moveTo>
                <a:lnTo>
                  <a:pt x="10152126" y="0"/>
                </a:lnTo>
                <a:lnTo>
                  <a:pt x="10152126" y="10254673"/>
                </a:lnTo>
                <a:lnTo>
                  <a:pt x="0" y="102546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469916" y="2824978"/>
            <a:ext cx="7789384" cy="3615678"/>
            <a:chOff x="0" y="0"/>
            <a:chExt cx="732148" cy="339849"/>
          </a:xfrm>
        </p:grpSpPr>
        <p:sp>
          <p:nvSpPr>
            <p:cNvPr name="Freeform 4" id="4"/>
            <p:cNvSpPr/>
            <p:nvPr/>
          </p:nvSpPr>
          <p:spPr>
            <a:xfrm flipH="false" flipV="false" rot="0">
              <a:off x="0" y="0"/>
              <a:ext cx="732148" cy="339849"/>
            </a:xfrm>
            <a:custGeom>
              <a:avLst/>
              <a:gdLst/>
              <a:ahLst/>
              <a:cxnLst/>
              <a:rect r="r" b="b" t="t" l="l"/>
              <a:pathLst>
                <a:path h="339849" w="732148">
                  <a:moveTo>
                    <a:pt x="140990" y="0"/>
                  </a:moveTo>
                  <a:lnTo>
                    <a:pt x="591158" y="0"/>
                  </a:lnTo>
                  <a:cubicBezTo>
                    <a:pt x="628551" y="0"/>
                    <a:pt x="664412" y="14854"/>
                    <a:pt x="690853" y="41295"/>
                  </a:cubicBezTo>
                  <a:cubicBezTo>
                    <a:pt x="717294" y="67736"/>
                    <a:pt x="732148" y="103597"/>
                    <a:pt x="732148" y="140990"/>
                  </a:cubicBezTo>
                  <a:lnTo>
                    <a:pt x="732148" y="198858"/>
                  </a:lnTo>
                  <a:cubicBezTo>
                    <a:pt x="732148" y="276725"/>
                    <a:pt x="669024" y="339849"/>
                    <a:pt x="591158" y="339849"/>
                  </a:cubicBezTo>
                  <a:lnTo>
                    <a:pt x="140990" y="339849"/>
                  </a:lnTo>
                  <a:cubicBezTo>
                    <a:pt x="63123" y="339849"/>
                    <a:pt x="0" y="276725"/>
                    <a:pt x="0" y="198858"/>
                  </a:cubicBezTo>
                  <a:lnTo>
                    <a:pt x="0" y="140990"/>
                  </a:lnTo>
                  <a:cubicBezTo>
                    <a:pt x="0" y="63123"/>
                    <a:pt x="63123" y="0"/>
                    <a:pt x="140990" y="0"/>
                  </a:cubicBezTo>
                  <a:close/>
                </a:path>
              </a:pathLst>
            </a:custGeom>
            <a:solidFill>
              <a:srgbClr val="7D2116"/>
            </a:solidFill>
          </p:spPr>
        </p:sp>
        <p:sp>
          <p:nvSpPr>
            <p:cNvPr name="TextBox 5" id="5"/>
            <p:cNvSpPr txBox="true"/>
            <p:nvPr/>
          </p:nvSpPr>
          <p:spPr>
            <a:xfrm>
              <a:off x="0" y="-38100"/>
              <a:ext cx="732148" cy="377949"/>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514" y="3998017"/>
            <a:ext cx="7503374" cy="67131"/>
            <a:chOff x="0" y="0"/>
            <a:chExt cx="782956" cy="7005"/>
          </a:xfrm>
        </p:grpSpPr>
        <p:sp>
          <p:nvSpPr>
            <p:cNvPr name="Freeform 7" id="7"/>
            <p:cNvSpPr/>
            <p:nvPr/>
          </p:nvSpPr>
          <p:spPr>
            <a:xfrm flipH="false" flipV="false" rot="0">
              <a:off x="0" y="0"/>
              <a:ext cx="782956" cy="7005"/>
            </a:xfrm>
            <a:custGeom>
              <a:avLst/>
              <a:gdLst/>
              <a:ahLst/>
              <a:cxnLst/>
              <a:rect r="r" b="b" t="t" l="l"/>
              <a:pathLst>
                <a:path h="7005" w="782956">
                  <a:moveTo>
                    <a:pt x="0" y="0"/>
                  </a:moveTo>
                  <a:lnTo>
                    <a:pt x="782956" y="0"/>
                  </a:lnTo>
                  <a:lnTo>
                    <a:pt x="782956" y="7005"/>
                  </a:lnTo>
                  <a:lnTo>
                    <a:pt x="0" y="7005"/>
                  </a:lnTo>
                  <a:close/>
                </a:path>
              </a:pathLst>
            </a:custGeom>
            <a:solidFill>
              <a:srgbClr val="7D2116"/>
            </a:solidFill>
          </p:spPr>
        </p:sp>
        <p:sp>
          <p:nvSpPr>
            <p:cNvPr name="TextBox 8" id="8"/>
            <p:cNvSpPr txBox="true"/>
            <p:nvPr/>
          </p:nvSpPr>
          <p:spPr>
            <a:xfrm>
              <a:off x="0" y="-38100"/>
              <a:ext cx="782956" cy="4510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4514" y="6712172"/>
            <a:ext cx="7503374" cy="67131"/>
            <a:chOff x="0" y="0"/>
            <a:chExt cx="782956" cy="7005"/>
          </a:xfrm>
        </p:grpSpPr>
        <p:sp>
          <p:nvSpPr>
            <p:cNvPr name="Freeform 10" id="10"/>
            <p:cNvSpPr/>
            <p:nvPr/>
          </p:nvSpPr>
          <p:spPr>
            <a:xfrm flipH="false" flipV="false" rot="0">
              <a:off x="0" y="0"/>
              <a:ext cx="782956" cy="7005"/>
            </a:xfrm>
            <a:custGeom>
              <a:avLst/>
              <a:gdLst/>
              <a:ahLst/>
              <a:cxnLst/>
              <a:rect r="r" b="b" t="t" l="l"/>
              <a:pathLst>
                <a:path h="7005" w="782956">
                  <a:moveTo>
                    <a:pt x="0" y="0"/>
                  </a:moveTo>
                  <a:lnTo>
                    <a:pt x="782956" y="0"/>
                  </a:lnTo>
                  <a:lnTo>
                    <a:pt x="782956" y="7005"/>
                  </a:lnTo>
                  <a:lnTo>
                    <a:pt x="0" y="7005"/>
                  </a:lnTo>
                  <a:close/>
                </a:path>
              </a:pathLst>
            </a:custGeom>
            <a:solidFill>
              <a:srgbClr val="7D2116"/>
            </a:solidFill>
          </p:spPr>
        </p:sp>
        <p:sp>
          <p:nvSpPr>
            <p:cNvPr name="TextBox 11" id="11"/>
            <p:cNvSpPr txBox="true"/>
            <p:nvPr/>
          </p:nvSpPr>
          <p:spPr>
            <a:xfrm>
              <a:off x="0" y="-38100"/>
              <a:ext cx="782956" cy="4510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7807398" y="2196165"/>
            <a:ext cx="955112" cy="955112"/>
          </a:xfrm>
          <a:custGeom>
            <a:avLst/>
            <a:gdLst/>
            <a:ahLst/>
            <a:cxnLst/>
            <a:rect r="r" b="b" t="t" l="l"/>
            <a:pathLst>
              <a:path h="955112" w="955112">
                <a:moveTo>
                  <a:pt x="0" y="0"/>
                </a:moveTo>
                <a:lnTo>
                  <a:pt x="955112" y="0"/>
                </a:lnTo>
                <a:lnTo>
                  <a:pt x="955112" y="955112"/>
                </a:lnTo>
                <a:lnTo>
                  <a:pt x="0" y="9551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028700" y="1488877"/>
            <a:ext cx="6410160" cy="2341112"/>
          </a:xfrm>
          <a:prstGeom prst="rect">
            <a:avLst/>
          </a:prstGeom>
        </p:spPr>
        <p:txBody>
          <a:bodyPr anchor="t" rtlCol="false" tIns="0" lIns="0" bIns="0" rIns="0">
            <a:spAutoFit/>
          </a:bodyPr>
          <a:lstStyle/>
          <a:p>
            <a:pPr algn="just">
              <a:lnSpc>
                <a:spcPts val="3133"/>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 Aenean iaculis mauris ut neque gravida, vel suscipit eros sollicitudin.</a:t>
            </a:r>
          </a:p>
        </p:txBody>
      </p:sp>
      <p:sp>
        <p:nvSpPr>
          <p:cNvPr name="TextBox 14" id="14"/>
          <p:cNvSpPr txBox="true"/>
          <p:nvPr/>
        </p:nvSpPr>
        <p:spPr>
          <a:xfrm rot="0">
            <a:off x="9469916" y="3481597"/>
            <a:ext cx="7789384" cy="2264340"/>
          </a:xfrm>
          <a:prstGeom prst="rect">
            <a:avLst/>
          </a:prstGeom>
        </p:spPr>
        <p:txBody>
          <a:bodyPr anchor="t" rtlCol="false" tIns="0" lIns="0" bIns="0" rIns="0">
            <a:spAutoFit/>
          </a:bodyPr>
          <a:lstStyle/>
          <a:p>
            <a:pPr algn="ctr">
              <a:lnSpc>
                <a:spcPts val="7731"/>
              </a:lnSpc>
            </a:pPr>
            <a:r>
              <a:rPr lang="en-US" b="true" sz="8225">
                <a:solidFill>
                  <a:srgbClr val="FFEAE9"/>
                </a:solidFill>
                <a:latin typeface="Cooper Hewitt Bold"/>
                <a:ea typeface="Cooper Hewitt Bold"/>
                <a:cs typeface="Cooper Hewitt Bold"/>
                <a:sym typeface="Cooper Hewitt Bold"/>
              </a:rPr>
              <a:t>COMMON </a:t>
            </a:r>
            <a:r>
              <a:rPr lang="en-US" b="true" sz="8225">
                <a:solidFill>
                  <a:srgbClr val="FFEAE9"/>
                </a:solidFill>
                <a:latin typeface="Cooper Hewitt Bold"/>
                <a:ea typeface="Cooper Hewitt Bold"/>
                <a:cs typeface="Cooper Hewitt Bold"/>
                <a:sym typeface="Cooper Hewitt Bold"/>
              </a:rPr>
              <a:t>EYE CONDITIONS</a:t>
            </a:r>
          </a:p>
        </p:txBody>
      </p:sp>
      <p:sp>
        <p:nvSpPr>
          <p:cNvPr name="TextBox 15" id="15"/>
          <p:cNvSpPr txBox="true"/>
          <p:nvPr/>
        </p:nvSpPr>
        <p:spPr>
          <a:xfrm rot="0">
            <a:off x="1028700" y="4204600"/>
            <a:ext cx="6410160" cy="2341112"/>
          </a:xfrm>
          <a:prstGeom prst="rect">
            <a:avLst/>
          </a:prstGeom>
        </p:spPr>
        <p:txBody>
          <a:bodyPr anchor="t" rtlCol="false" tIns="0" lIns="0" bIns="0" rIns="0">
            <a:spAutoFit/>
          </a:bodyPr>
          <a:lstStyle/>
          <a:p>
            <a:pPr algn="just">
              <a:lnSpc>
                <a:spcPts val="3133"/>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 Aenean iaculis mauris ut neque gravida, vel suscipit eros sollicitudin.</a:t>
            </a:r>
          </a:p>
        </p:txBody>
      </p:sp>
      <p:sp>
        <p:nvSpPr>
          <p:cNvPr name="TextBox 16" id="16"/>
          <p:cNvSpPr txBox="true"/>
          <p:nvPr/>
        </p:nvSpPr>
        <p:spPr>
          <a:xfrm rot="0">
            <a:off x="1028700" y="6917188"/>
            <a:ext cx="6410160" cy="2341112"/>
          </a:xfrm>
          <a:prstGeom prst="rect">
            <a:avLst/>
          </a:prstGeom>
        </p:spPr>
        <p:txBody>
          <a:bodyPr anchor="t" rtlCol="false" tIns="0" lIns="0" bIns="0" rIns="0">
            <a:spAutoFit/>
          </a:bodyPr>
          <a:lstStyle/>
          <a:p>
            <a:pPr algn="just">
              <a:lnSpc>
                <a:spcPts val="3133"/>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 Aenean iaculis mauris ut neque gravida, vel suscipit eros sollicitudin.</a:t>
            </a:r>
          </a:p>
        </p:txBody>
      </p:sp>
      <p:sp>
        <p:nvSpPr>
          <p:cNvPr name="Freeform 17" id="17"/>
          <p:cNvSpPr/>
          <p:nvPr/>
        </p:nvSpPr>
        <p:spPr>
          <a:xfrm flipH="false" flipV="false" rot="0">
            <a:off x="7807398" y="4911888"/>
            <a:ext cx="955112" cy="955112"/>
          </a:xfrm>
          <a:custGeom>
            <a:avLst/>
            <a:gdLst/>
            <a:ahLst/>
            <a:cxnLst/>
            <a:rect r="r" b="b" t="t" l="l"/>
            <a:pathLst>
              <a:path h="955112" w="955112">
                <a:moveTo>
                  <a:pt x="0" y="0"/>
                </a:moveTo>
                <a:lnTo>
                  <a:pt x="955112" y="0"/>
                </a:lnTo>
                <a:lnTo>
                  <a:pt x="955112" y="955112"/>
                </a:lnTo>
                <a:lnTo>
                  <a:pt x="0" y="9551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7807398" y="7495829"/>
            <a:ext cx="955112" cy="955112"/>
          </a:xfrm>
          <a:custGeom>
            <a:avLst/>
            <a:gdLst/>
            <a:ahLst/>
            <a:cxnLst/>
            <a:rect r="r" b="b" t="t" l="l"/>
            <a:pathLst>
              <a:path h="955112" w="955112">
                <a:moveTo>
                  <a:pt x="0" y="0"/>
                </a:moveTo>
                <a:lnTo>
                  <a:pt x="955112" y="0"/>
                </a:lnTo>
                <a:lnTo>
                  <a:pt x="955112" y="955112"/>
                </a:lnTo>
                <a:lnTo>
                  <a:pt x="0" y="9551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EAE9"/>
        </a:solidFill>
      </p:bgPr>
    </p:bg>
    <p:spTree>
      <p:nvGrpSpPr>
        <p:cNvPr id="1" name=""/>
        <p:cNvGrpSpPr/>
        <p:nvPr/>
      </p:nvGrpSpPr>
      <p:grpSpPr>
        <a:xfrm>
          <a:off x="0" y="0"/>
          <a:ext cx="0" cy="0"/>
          <a:chOff x="0" y="0"/>
          <a:chExt cx="0" cy="0"/>
        </a:xfrm>
      </p:grpSpPr>
      <p:grpSp>
        <p:nvGrpSpPr>
          <p:cNvPr name="Group 2" id="2"/>
          <p:cNvGrpSpPr/>
          <p:nvPr/>
        </p:nvGrpSpPr>
        <p:grpSpPr>
          <a:xfrm rot="0">
            <a:off x="2746986" y="2922787"/>
            <a:ext cx="6397014" cy="3802545"/>
            <a:chOff x="0" y="0"/>
            <a:chExt cx="601275" cy="357413"/>
          </a:xfrm>
        </p:grpSpPr>
        <p:sp>
          <p:nvSpPr>
            <p:cNvPr name="Freeform 3" id="3"/>
            <p:cNvSpPr/>
            <p:nvPr/>
          </p:nvSpPr>
          <p:spPr>
            <a:xfrm flipH="false" flipV="false" rot="0">
              <a:off x="0" y="0"/>
              <a:ext cx="601275" cy="357413"/>
            </a:xfrm>
            <a:custGeom>
              <a:avLst/>
              <a:gdLst/>
              <a:ahLst/>
              <a:cxnLst/>
              <a:rect r="r" b="b" t="t" l="l"/>
              <a:pathLst>
                <a:path h="357413" w="601275">
                  <a:moveTo>
                    <a:pt x="90768" y="0"/>
                  </a:moveTo>
                  <a:lnTo>
                    <a:pt x="510507" y="0"/>
                  </a:lnTo>
                  <a:cubicBezTo>
                    <a:pt x="534580" y="0"/>
                    <a:pt x="557667" y="9563"/>
                    <a:pt x="574689" y="26585"/>
                  </a:cubicBezTo>
                  <a:cubicBezTo>
                    <a:pt x="591712" y="43608"/>
                    <a:pt x="601275" y="66695"/>
                    <a:pt x="601275" y="90768"/>
                  </a:cubicBezTo>
                  <a:lnTo>
                    <a:pt x="601275" y="266645"/>
                  </a:lnTo>
                  <a:cubicBezTo>
                    <a:pt x="601275" y="290718"/>
                    <a:pt x="591712" y="313805"/>
                    <a:pt x="574689" y="330827"/>
                  </a:cubicBezTo>
                  <a:cubicBezTo>
                    <a:pt x="557667" y="347850"/>
                    <a:pt x="534580" y="357413"/>
                    <a:pt x="510507" y="357413"/>
                  </a:cubicBezTo>
                  <a:lnTo>
                    <a:pt x="90768" y="357413"/>
                  </a:lnTo>
                  <a:cubicBezTo>
                    <a:pt x="66695" y="357413"/>
                    <a:pt x="43608" y="347850"/>
                    <a:pt x="26585" y="330827"/>
                  </a:cubicBezTo>
                  <a:cubicBezTo>
                    <a:pt x="9563" y="313805"/>
                    <a:pt x="0" y="290718"/>
                    <a:pt x="0" y="266645"/>
                  </a:cubicBezTo>
                  <a:lnTo>
                    <a:pt x="0" y="90768"/>
                  </a:lnTo>
                  <a:cubicBezTo>
                    <a:pt x="0" y="66695"/>
                    <a:pt x="9563" y="43608"/>
                    <a:pt x="26585" y="26585"/>
                  </a:cubicBezTo>
                  <a:cubicBezTo>
                    <a:pt x="43608" y="9563"/>
                    <a:pt x="66695" y="0"/>
                    <a:pt x="90768" y="0"/>
                  </a:cubicBezTo>
                  <a:close/>
                </a:path>
              </a:pathLst>
            </a:custGeom>
            <a:solidFill>
              <a:srgbClr val="7D2116"/>
            </a:solidFill>
          </p:spPr>
        </p:sp>
        <p:sp>
          <p:nvSpPr>
            <p:cNvPr name="TextBox 4" id="4"/>
            <p:cNvSpPr txBox="true"/>
            <p:nvPr/>
          </p:nvSpPr>
          <p:spPr>
            <a:xfrm>
              <a:off x="0" y="-38100"/>
              <a:ext cx="601275" cy="39551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862286" y="2922787"/>
            <a:ext cx="6397014" cy="3802545"/>
            <a:chOff x="0" y="0"/>
            <a:chExt cx="601275" cy="357413"/>
          </a:xfrm>
        </p:grpSpPr>
        <p:sp>
          <p:nvSpPr>
            <p:cNvPr name="Freeform 6" id="6"/>
            <p:cNvSpPr/>
            <p:nvPr/>
          </p:nvSpPr>
          <p:spPr>
            <a:xfrm flipH="false" flipV="false" rot="0">
              <a:off x="0" y="0"/>
              <a:ext cx="601275" cy="357413"/>
            </a:xfrm>
            <a:custGeom>
              <a:avLst/>
              <a:gdLst/>
              <a:ahLst/>
              <a:cxnLst/>
              <a:rect r="r" b="b" t="t" l="l"/>
              <a:pathLst>
                <a:path h="357413" w="601275">
                  <a:moveTo>
                    <a:pt x="90768" y="0"/>
                  </a:moveTo>
                  <a:lnTo>
                    <a:pt x="510507" y="0"/>
                  </a:lnTo>
                  <a:cubicBezTo>
                    <a:pt x="534580" y="0"/>
                    <a:pt x="557667" y="9563"/>
                    <a:pt x="574689" y="26585"/>
                  </a:cubicBezTo>
                  <a:cubicBezTo>
                    <a:pt x="591712" y="43608"/>
                    <a:pt x="601275" y="66695"/>
                    <a:pt x="601275" y="90768"/>
                  </a:cubicBezTo>
                  <a:lnTo>
                    <a:pt x="601275" y="266645"/>
                  </a:lnTo>
                  <a:cubicBezTo>
                    <a:pt x="601275" y="290718"/>
                    <a:pt x="591712" y="313805"/>
                    <a:pt x="574689" y="330827"/>
                  </a:cubicBezTo>
                  <a:cubicBezTo>
                    <a:pt x="557667" y="347850"/>
                    <a:pt x="534580" y="357413"/>
                    <a:pt x="510507" y="357413"/>
                  </a:cubicBezTo>
                  <a:lnTo>
                    <a:pt x="90768" y="357413"/>
                  </a:lnTo>
                  <a:cubicBezTo>
                    <a:pt x="66695" y="357413"/>
                    <a:pt x="43608" y="347850"/>
                    <a:pt x="26585" y="330827"/>
                  </a:cubicBezTo>
                  <a:cubicBezTo>
                    <a:pt x="9563" y="313805"/>
                    <a:pt x="0" y="290718"/>
                    <a:pt x="0" y="266645"/>
                  </a:cubicBezTo>
                  <a:lnTo>
                    <a:pt x="0" y="90768"/>
                  </a:lnTo>
                  <a:cubicBezTo>
                    <a:pt x="0" y="66695"/>
                    <a:pt x="9563" y="43608"/>
                    <a:pt x="26585" y="26585"/>
                  </a:cubicBezTo>
                  <a:cubicBezTo>
                    <a:pt x="43608" y="9563"/>
                    <a:pt x="66695" y="0"/>
                    <a:pt x="90768" y="0"/>
                  </a:cubicBezTo>
                  <a:close/>
                </a:path>
              </a:pathLst>
            </a:custGeom>
            <a:solidFill>
              <a:srgbClr val="7D2116"/>
            </a:solidFill>
          </p:spPr>
        </p:sp>
        <p:sp>
          <p:nvSpPr>
            <p:cNvPr name="TextBox 7" id="7"/>
            <p:cNvSpPr txBox="true"/>
            <p:nvPr/>
          </p:nvSpPr>
          <p:spPr>
            <a:xfrm>
              <a:off x="0" y="-38100"/>
              <a:ext cx="601275" cy="395513"/>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438890" y="4468227"/>
            <a:ext cx="961710" cy="711665"/>
          </a:xfrm>
          <a:custGeom>
            <a:avLst/>
            <a:gdLst/>
            <a:ahLst/>
            <a:cxnLst/>
            <a:rect r="r" b="b" t="t" l="l"/>
            <a:pathLst>
              <a:path h="711665" w="961710">
                <a:moveTo>
                  <a:pt x="0" y="0"/>
                </a:moveTo>
                <a:lnTo>
                  <a:pt x="961710" y="0"/>
                </a:lnTo>
                <a:lnTo>
                  <a:pt x="961710" y="711665"/>
                </a:lnTo>
                <a:lnTo>
                  <a:pt x="0" y="7116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3361842" y="3213652"/>
            <a:ext cx="5167302" cy="3192240"/>
          </a:xfrm>
          <a:prstGeom prst="rect">
            <a:avLst/>
          </a:prstGeom>
        </p:spPr>
        <p:txBody>
          <a:bodyPr anchor="t" rtlCol="false" tIns="0" lIns="0" bIns="0" rIns="0">
            <a:spAutoFit/>
          </a:bodyPr>
          <a:lstStyle/>
          <a:p>
            <a:pPr algn="just">
              <a:lnSpc>
                <a:spcPts val="3181"/>
              </a:lnSpc>
            </a:pPr>
            <a:r>
              <a:rPr lang="en-US" sz="2410">
                <a:solidFill>
                  <a:srgbClr val="FFEAE9"/>
                </a:solidFill>
                <a:latin typeface="DM Sans"/>
                <a:ea typeface="DM Sans"/>
                <a:cs typeface="DM Sans"/>
                <a:sym typeface="DM Sans"/>
              </a:rPr>
              <a:t>Lorem ipsum dolor sit amet, consectetur adipiscing elit. Proin malesuada interdum libero, nec vehicula metus eleifend sit amet. Nullam nec ligula at turpis volutpat luctus. Aenean iaculis mauris ut neque gravida, vel suscipit eros sollicitudin.</a:t>
            </a:r>
          </a:p>
        </p:txBody>
      </p:sp>
      <p:sp>
        <p:nvSpPr>
          <p:cNvPr name="TextBox 10" id="10"/>
          <p:cNvSpPr txBox="true"/>
          <p:nvPr/>
        </p:nvSpPr>
        <p:spPr>
          <a:xfrm rot="0">
            <a:off x="3720223" y="1203340"/>
            <a:ext cx="10340570" cy="1290768"/>
          </a:xfrm>
          <a:prstGeom prst="rect">
            <a:avLst/>
          </a:prstGeom>
        </p:spPr>
        <p:txBody>
          <a:bodyPr anchor="t" rtlCol="false" tIns="0" lIns="0" bIns="0" rIns="0">
            <a:spAutoFit/>
          </a:bodyPr>
          <a:lstStyle/>
          <a:p>
            <a:pPr algn="ctr">
              <a:lnSpc>
                <a:spcPts val="7731"/>
              </a:lnSpc>
            </a:pPr>
            <a:r>
              <a:rPr lang="en-US" b="true" sz="8225">
                <a:solidFill>
                  <a:srgbClr val="7D2116"/>
                </a:solidFill>
                <a:latin typeface="Cooper Hewitt Bold"/>
                <a:ea typeface="Cooper Hewitt Bold"/>
                <a:cs typeface="Cooper Hewitt Bold"/>
                <a:sym typeface="Cooper Hewitt Bold"/>
              </a:rPr>
              <a:t>WA</a:t>
            </a:r>
            <a:r>
              <a:rPr lang="en-US" b="true" sz="8225">
                <a:solidFill>
                  <a:srgbClr val="7D2116"/>
                </a:solidFill>
                <a:latin typeface="Cooper Hewitt Bold"/>
                <a:ea typeface="Cooper Hewitt Bold"/>
                <a:cs typeface="Cooper Hewitt Bold"/>
                <a:sym typeface="Cooper Hewitt Bold"/>
              </a:rPr>
              <a:t>RNING SIGNS</a:t>
            </a:r>
          </a:p>
        </p:txBody>
      </p:sp>
      <p:sp>
        <p:nvSpPr>
          <p:cNvPr name="TextBox 11" id="11"/>
          <p:cNvSpPr txBox="true"/>
          <p:nvPr/>
        </p:nvSpPr>
        <p:spPr>
          <a:xfrm rot="0">
            <a:off x="11477142" y="3213652"/>
            <a:ext cx="5167302" cy="3192240"/>
          </a:xfrm>
          <a:prstGeom prst="rect">
            <a:avLst/>
          </a:prstGeom>
        </p:spPr>
        <p:txBody>
          <a:bodyPr anchor="t" rtlCol="false" tIns="0" lIns="0" bIns="0" rIns="0">
            <a:spAutoFit/>
          </a:bodyPr>
          <a:lstStyle/>
          <a:p>
            <a:pPr algn="just">
              <a:lnSpc>
                <a:spcPts val="3181"/>
              </a:lnSpc>
            </a:pPr>
            <a:r>
              <a:rPr lang="en-US" sz="2410">
                <a:solidFill>
                  <a:srgbClr val="FFEAE9"/>
                </a:solidFill>
                <a:latin typeface="DM Sans"/>
                <a:ea typeface="DM Sans"/>
                <a:cs typeface="DM Sans"/>
                <a:sym typeface="DM Sans"/>
              </a:rPr>
              <a:t>Lorem ipsum dolor sit amet, consectetur adipiscing elit. Proin malesuada interdum libero, nec vehicula metus eleifend sit amet. Nullam nec ligula at turpis volutpat luctus. Aenean iaculis mauris ut neque gravida, vel suscipit eros sollicitudin.</a:t>
            </a:r>
          </a:p>
        </p:txBody>
      </p:sp>
      <p:sp>
        <p:nvSpPr>
          <p:cNvPr name="TextBox 12" id="12"/>
          <p:cNvSpPr txBox="true"/>
          <p:nvPr/>
        </p:nvSpPr>
        <p:spPr>
          <a:xfrm rot="0">
            <a:off x="1092503" y="7495533"/>
            <a:ext cx="1654482" cy="912974"/>
          </a:xfrm>
          <a:prstGeom prst="rect">
            <a:avLst/>
          </a:prstGeom>
        </p:spPr>
        <p:txBody>
          <a:bodyPr anchor="t" rtlCol="false" tIns="0" lIns="0" bIns="0" rIns="0">
            <a:spAutoFit/>
          </a:bodyPr>
          <a:lstStyle/>
          <a:p>
            <a:pPr algn="ctr">
              <a:lnSpc>
                <a:spcPts val="5517"/>
              </a:lnSpc>
            </a:pPr>
            <a:r>
              <a:rPr lang="en-US" b="true" sz="5869">
                <a:solidFill>
                  <a:srgbClr val="7D2116"/>
                </a:solidFill>
                <a:latin typeface="Cooper Hewitt Bold"/>
                <a:ea typeface="Cooper Hewitt Bold"/>
                <a:cs typeface="Cooper Hewitt Bold"/>
                <a:sym typeface="Cooper Hewitt Bold"/>
              </a:rPr>
              <a:t>1.</a:t>
            </a:r>
          </a:p>
        </p:txBody>
      </p:sp>
      <p:sp>
        <p:nvSpPr>
          <p:cNvPr name="TextBox 13" id="13"/>
          <p:cNvSpPr txBox="true"/>
          <p:nvPr/>
        </p:nvSpPr>
        <p:spPr>
          <a:xfrm rot="0">
            <a:off x="9294824" y="7495533"/>
            <a:ext cx="1654482" cy="912974"/>
          </a:xfrm>
          <a:prstGeom prst="rect">
            <a:avLst/>
          </a:prstGeom>
        </p:spPr>
        <p:txBody>
          <a:bodyPr anchor="t" rtlCol="false" tIns="0" lIns="0" bIns="0" rIns="0">
            <a:spAutoFit/>
          </a:bodyPr>
          <a:lstStyle/>
          <a:p>
            <a:pPr algn="ctr">
              <a:lnSpc>
                <a:spcPts val="5517"/>
              </a:lnSpc>
            </a:pPr>
            <a:r>
              <a:rPr lang="en-US" b="true" sz="5869">
                <a:solidFill>
                  <a:srgbClr val="7D2116"/>
                </a:solidFill>
                <a:latin typeface="Cooper Hewitt Bold"/>
                <a:ea typeface="Cooper Hewitt Bold"/>
                <a:cs typeface="Cooper Hewitt Bold"/>
                <a:sym typeface="Cooper Hewitt Bold"/>
              </a:rPr>
              <a:t>2.</a:t>
            </a:r>
          </a:p>
        </p:txBody>
      </p:sp>
      <p:sp>
        <p:nvSpPr>
          <p:cNvPr name="TextBox 14" id="14"/>
          <p:cNvSpPr txBox="true"/>
          <p:nvPr/>
        </p:nvSpPr>
        <p:spPr>
          <a:xfrm rot="0">
            <a:off x="2984830" y="7106332"/>
            <a:ext cx="6188512" cy="1662800"/>
          </a:xfrm>
          <a:prstGeom prst="rect">
            <a:avLst/>
          </a:prstGeom>
        </p:spPr>
        <p:txBody>
          <a:bodyPr anchor="t" rtlCol="false" tIns="0" lIns="0" bIns="0" rIns="0">
            <a:spAutoFit/>
          </a:bodyPr>
          <a:lstStyle/>
          <a:p>
            <a:pPr algn="just">
              <a:lnSpc>
                <a:spcPts val="3374"/>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a:t>
            </a:r>
          </a:p>
        </p:txBody>
      </p:sp>
      <p:sp>
        <p:nvSpPr>
          <p:cNvPr name="TextBox 15" id="15"/>
          <p:cNvSpPr txBox="true"/>
          <p:nvPr/>
        </p:nvSpPr>
        <p:spPr>
          <a:xfrm rot="0">
            <a:off x="11070788" y="7106332"/>
            <a:ext cx="6188512" cy="1662800"/>
          </a:xfrm>
          <a:prstGeom prst="rect">
            <a:avLst/>
          </a:prstGeom>
        </p:spPr>
        <p:txBody>
          <a:bodyPr anchor="t" rtlCol="false" tIns="0" lIns="0" bIns="0" rIns="0">
            <a:spAutoFit/>
          </a:bodyPr>
          <a:lstStyle/>
          <a:p>
            <a:pPr algn="just">
              <a:lnSpc>
                <a:spcPts val="3374"/>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a:t>
            </a:r>
          </a:p>
        </p:txBody>
      </p:sp>
      <p:sp>
        <p:nvSpPr>
          <p:cNvPr name="Freeform 16" id="16"/>
          <p:cNvSpPr/>
          <p:nvPr/>
        </p:nvSpPr>
        <p:spPr>
          <a:xfrm flipH="false" flipV="false" rot="0">
            <a:off x="9486900" y="4431835"/>
            <a:ext cx="961710" cy="711665"/>
          </a:xfrm>
          <a:custGeom>
            <a:avLst/>
            <a:gdLst/>
            <a:ahLst/>
            <a:cxnLst/>
            <a:rect r="r" b="b" t="t" l="l"/>
            <a:pathLst>
              <a:path h="711665" w="961710">
                <a:moveTo>
                  <a:pt x="0" y="0"/>
                </a:moveTo>
                <a:lnTo>
                  <a:pt x="961710" y="0"/>
                </a:lnTo>
                <a:lnTo>
                  <a:pt x="961710" y="711665"/>
                </a:lnTo>
                <a:lnTo>
                  <a:pt x="0" y="7116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EAE9"/>
        </a:solidFill>
      </p:bgPr>
    </p:bg>
    <p:spTree>
      <p:nvGrpSpPr>
        <p:cNvPr id="1" name=""/>
        <p:cNvGrpSpPr/>
        <p:nvPr/>
      </p:nvGrpSpPr>
      <p:grpSpPr>
        <a:xfrm>
          <a:off x="0" y="0"/>
          <a:ext cx="0" cy="0"/>
          <a:chOff x="0" y="0"/>
          <a:chExt cx="0" cy="0"/>
        </a:xfrm>
      </p:grpSpPr>
      <p:grpSp>
        <p:nvGrpSpPr>
          <p:cNvPr name="Group 2" id="2"/>
          <p:cNvGrpSpPr/>
          <p:nvPr/>
        </p:nvGrpSpPr>
        <p:grpSpPr>
          <a:xfrm rot="0">
            <a:off x="1580314" y="1243200"/>
            <a:ext cx="8754312" cy="2722037"/>
            <a:chOff x="0" y="0"/>
            <a:chExt cx="822844" cy="255853"/>
          </a:xfrm>
        </p:grpSpPr>
        <p:sp>
          <p:nvSpPr>
            <p:cNvPr name="Freeform 3" id="3"/>
            <p:cNvSpPr/>
            <p:nvPr/>
          </p:nvSpPr>
          <p:spPr>
            <a:xfrm flipH="false" flipV="false" rot="0">
              <a:off x="0" y="0"/>
              <a:ext cx="822844" cy="255853"/>
            </a:xfrm>
            <a:custGeom>
              <a:avLst/>
              <a:gdLst/>
              <a:ahLst/>
              <a:cxnLst/>
              <a:rect r="r" b="b" t="t" l="l"/>
              <a:pathLst>
                <a:path h="255853" w="822844">
                  <a:moveTo>
                    <a:pt x="68095" y="0"/>
                  </a:moveTo>
                  <a:lnTo>
                    <a:pt x="754749" y="0"/>
                  </a:lnTo>
                  <a:cubicBezTo>
                    <a:pt x="792357" y="0"/>
                    <a:pt x="822844" y="30487"/>
                    <a:pt x="822844" y="68095"/>
                  </a:cubicBezTo>
                  <a:lnTo>
                    <a:pt x="822844" y="187757"/>
                  </a:lnTo>
                  <a:cubicBezTo>
                    <a:pt x="822844" y="205817"/>
                    <a:pt x="815670" y="223138"/>
                    <a:pt x="802900" y="235908"/>
                  </a:cubicBezTo>
                  <a:cubicBezTo>
                    <a:pt x="790129" y="248678"/>
                    <a:pt x="772809" y="255853"/>
                    <a:pt x="754749" y="255853"/>
                  </a:cubicBezTo>
                  <a:lnTo>
                    <a:pt x="68095" y="255853"/>
                  </a:lnTo>
                  <a:cubicBezTo>
                    <a:pt x="50035" y="255853"/>
                    <a:pt x="32715" y="248678"/>
                    <a:pt x="19945" y="235908"/>
                  </a:cubicBezTo>
                  <a:cubicBezTo>
                    <a:pt x="7174" y="223138"/>
                    <a:pt x="0" y="205817"/>
                    <a:pt x="0" y="187757"/>
                  </a:cubicBezTo>
                  <a:lnTo>
                    <a:pt x="0" y="68095"/>
                  </a:lnTo>
                  <a:cubicBezTo>
                    <a:pt x="0" y="50035"/>
                    <a:pt x="7174" y="32715"/>
                    <a:pt x="19945" y="19945"/>
                  </a:cubicBezTo>
                  <a:cubicBezTo>
                    <a:pt x="32715" y="7174"/>
                    <a:pt x="50035" y="0"/>
                    <a:pt x="68095" y="0"/>
                  </a:cubicBezTo>
                  <a:close/>
                </a:path>
              </a:pathLst>
            </a:custGeom>
            <a:solidFill>
              <a:srgbClr val="7D2116"/>
            </a:solidFill>
          </p:spPr>
        </p:sp>
        <p:sp>
          <p:nvSpPr>
            <p:cNvPr name="TextBox 4" id="4"/>
            <p:cNvSpPr txBox="true"/>
            <p:nvPr/>
          </p:nvSpPr>
          <p:spPr>
            <a:xfrm>
              <a:off x="0" y="-38100"/>
              <a:ext cx="822844" cy="29395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1245173" y="3207878"/>
            <a:ext cx="859977" cy="859977"/>
          </a:xfrm>
          <a:custGeom>
            <a:avLst/>
            <a:gdLst/>
            <a:ahLst/>
            <a:cxnLst/>
            <a:rect r="r" b="b" t="t" l="l"/>
            <a:pathLst>
              <a:path h="859977" w="859977">
                <a:moveTo>
                  <a:pt x="0" y="0"/>
                </a:moveTo>
                <a:lnTo>
                  <a:pt x="859977" y="0"/>
                </a:lnTo>
                <a:lnTo>
                  <a:pt x="859977" y="859977"/>
                </a:lnTo>
                <a:lnTo>
                  <a:pt x="0" y="8599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859730" y="1700897"/>
            <a:ext cx="8195479" cy="2264340"/>
          </a:xfrm>
          <a:prstGeom prst="rect">
            <a:avLst/>
          </a:prstGeom>
        </p:spPr>
        <p:txBody>
          <a:bodyPr anchor="t" rtlCol="false" tIns="0" lIns="0" bIns="0" rIns="0">
            <a:spAutoFit/>
          </a:bodyPr>
          <a:lstStyle/>
          <a:p>
            <a:pPr algn="ctr">
              <a:lnSpc>
                <a:spcPts val="7731"/>
              </a:lnSpc>
            </a:pPr>
            <a:r>
              <a:rPr lang="en-US" b="true" sz="8225">
                <a:solidFill>
                  <a:srgbClr val="FFEAE9"/>
                </a:solidFill>
                <a:latin typeface="Cooper Hewitt Bold"/>
                <a:ea typeface="Cooper Hewitt Bold"/>
                <a:cs typeface="Cooper Hewitt Bold"/>
                <a:sym typeface="Cooper Hewitt Bold"/>
              </a:rPr>
              <a:t>VISION</a:t>
            </a:r>
            <a:r>
              <a:rPr lang="en-US" b="true" sz="8225">
                <a:solidFill>
                  <a:srgbClr val="FFEAE9"/>
                </a:solidFill>
                <a:latin typeface="Cooper Hewitt Bold"/>
                <a:ea typeface="Cooper Hewitt Bold"/>
                <a:cs typeface="Cooper Hewitt Bold"/>
                <a:sym typeface="Cooper Hewitt Bold"/>
              </a:rPr>
              <a:t> CARE TIPS</a:t>
            </a:r>
          </a:p>
        </p:txBody>
      </p:sp>
      <p:sp>
        <p:nvSpPr>
          <p:cNvPr name="TextBox 7" id="7"/>
          <p:cNvSpPr txBox="true"/>
          <p:nvPr/>
        </p:nvSpPr>
        <p:spPr>
          <a:xfrm rot="0">
            <a:off x="2905819" y="4250678"/>
            <a:ext cx="7428806" cy="2081900"/>
          </a:xfrm>
          <a:prstGeom prst="rect">
            <a:avLst/>
          </a:prstGeom>
        </p:spPr>
        <p:txBody>
          <a:bodyPr anchor="t" rtlCol="false" tIns="0" lIns="0" bIns="0" rIns="0">
            <a:spAutoFit/>
          </a:bodyPr>
          <a:lstStyle/>
          <a:p>
            <a:pPr algn="just">
              <a:lnSpc>
                <a:spcPts val="3374"/>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 Aenean iaculis mauris ut neque gravida, vel suscipit eros sollicitudin. </a:t>
            </a:r>
          </a:p>
        </p:txBody>
      </p:sp>
      <p:sp>
        <p:nvSpPr>
          <p:cNvPr name="TextBox 8" id="8"/>
          <p:cNvSpPr txBox="true"/>
          <p:nvPr/>
        </p:nvSpPr>
        <p:spPr>
          <a:xfrm rot="0">
            <a:off x="2905819" y="6961228"/>
            <a:ext cx="7428806" cy="2081900"/>
          </a:xfrm>
          <a:prstGeom prst="rect">
            <a:avLst/>
          </a:prstGeom>
        </p:spPr>
        <p:txBody>
          <a:bodyPr anchor="t" rtlCol="false" tIns="0" lIns="0" bIns="0" rIns="0">
            <a:spAutoFit/>
          </a:bodyPr>
          <a:lstStyle/>
          <a:p>
            <a:pPr algn="just">
              <a:lnSpc>
                <a:spcPts val="3374"/>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 Aenean iaculis mauris ut neque gravida, vel suscipit eros sollicitudin. </a:t>
            </a:r>
          </a:p>
        </p:txBody>
      </p:sp>
      <p:sp>
        <p:nvSpPr>
          <p:cNvPr name="Freeform 9" id="9"/>
          <p:cNvSpPr/>
          <p:nvPr/>
        </p:nvSpPr>
        <p:spPr>
          <a:xfrm flipH="false" flipV="false" rot="0">
            <a:off x="1580314" y="4885452"/>
            <a:ext cx="859977" cy="859977"/>
          </a:xfrm>
          <a:custGeom>
            <a:avLst/>
            <a:gdLst/>
            <a:ahLst/>
            <a:cxnLst/>
            <a:rect r="r" b="b" t="t" l="l"/>
            <a:pathLst>
              <a:path h="859977" w="859977">
                <a:moveTo>
                  <a:pt x="0" y="0"/>
                </a:moveTo>
                <a:lnTo>
                  <a:pt x="859977" y="0"/>
                </a:lnTo>
                <a:lnTo>
                  <a:pt x="859977" y="859977"/>
                </a:lnTo>
                <a:lnTo>
                  <a:pt x="0" y="8599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580314" y="7596002"/>
            <a:ext cx="859977" cy="859977"/>
          </a:xfrm>
          <a:custGeom>
            <a:avLst/>
            <a:gdLst/>
            <a:ahLst/>
            <a:cxnLst/>
            <a:rect r="r" b="b" t="t" l="l"/>
            <a:pathLst>
              <a:path h="859977" w="859977">
                <a:moveTo>
                  <a:pt x="0" y="0"/>
                </a:moveTo>
                <a:lnTo>
                  <a:pt x="859977" y="0"/>
                </a:lnTo>
                <a:lnTo>
                  <a:pt x="859977" y="859977"/>
                </a:lnTo>
                <a:lnTo>
                  <a:pt x="0" y="8599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12458727" y="2047133"/>
            <a:ext cx="4800573" cy="3339200"/>
          </a:xfrm>
          <a:prstGeom prst="rect">
            <a:avLst/>
          </a:prstGeom>
        </p:spPr>
        <p:txBody>
          <a:bodyPr anchor="t" rtlCol="false" tIns="0" lIns="0" bIns="0" rIns="0">
            <a:spAutoFit/>
          </a:bodyPr>
          <a:lstStyle/>
          <a:p>
            <a:pPr algn="just">
              <a:lnSpc>
                <a:spcPts val="3374"/>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 Aenean iaculis mauris ut neque gravida, vel suscipit eros sollicitudin. </a:t>
            </a:r>
          </a:p>
        </p:txBody>
      </p:sp>
      <p:sp>
        <p:nvSpPr>
          <p:cNvPr name="Freeform 12" id="12"/>
          <p:cNvSpPr/>
          <p:nvPr/>
        </p:nvSpPr>
        <p:spPr>
          <a:xfrm flipH="false" flipV="false" rot="0">
            <a:off x="11245173" y="7079845"/>
            <a:ext cx="859977" cy="859977"/>
          </a:xfrm>
          <a:custGeom>
            <a:avLst/>
            <a:gdLst/>
            <a:ahLst/>
            <a:cxnLst/>
            <a:rect r="r" b="b" t="t" l="l"/>
            <a:pathLst>
              <a:path h="859977" w="859977">
                <a:moveTo>
                  <a:pt x="0" y="0"/>
                </a:moveTo>
                <a:lnTo>
                  <a:pt x="859977" y="0"/>
                </a:lnTo>
                <a:lnTo>
                  <a:pt x="859977" y="859977"/>
                </a:lnTo>
                <a:lnTo>
                  <a:pt x="0" y="8599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12458727" y="5919100"/>
            <a:ext cx="4800573" cy="3339200"/>
          </a:xfrm>
          <a:prstGeom prst="rect">
            <a:avLst/>
          </a:prstGeom>
        </p:spPr>
        <p:txBody>
          <a:bodyPr anchor="t" rtlCol="false" tIns="0" lIns="0" bIns="0" rIns="0">
            <a:spAutoFit/>
          </a:bodyPr>
          <a:lstStyle/>
          <a:p>
            <a:pPr algn="just">
              <a:lnSpc>
                <a:spcPts val="3374"/>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 Aenean iaculis mauris ut neque gravida, vel suscipit eros sollicitudin.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EAE9"/>
        </a:solidFill>
      </p:bgPr>
    </p:bg>
    <p:spTree>
      <p:nvGrpSpPr>
        <p:cNvPr id="1" name=""/>
        <p:cNvGrpSpPr/>
        <p:nvPr/>
      </p:nvGrpSpPr>
      <p:grpSpPr>
        <a:xfrm>
          <a:off x="0" y="0"/>
          <a:ext cx="0" cy="0"/>
          <a:chOff x="0" y="0"/>
          <a:chExt cx="0" cy="0"/>
        </a:xfrm>
      </p:grpSpPr>
      <p:grpSp>
        <p:nvGrpSpPr>
          <p:cNvPr name="Group 2" id="2"/>
          <p:cNvGrpSpPr/>
          <p:nvPr/>
        </p:nvGrpSpPr>
        <p:grpSpPr>
          <a:xfrm rot="0">
            <a:off x="1805184" y="1028700"/>
            <a:ext cx="13834516" cy="1877291"/>
            <a:chOff x="0" y="0"/>
            <a:chExt cx="1300348" cy="176452"/>
          </a:xfrm>
        </p:grpSpPr>
        <p:sp>
          <p:nvSpPr>
            <p:cNvPr name="Freeform 3" id="3"/>
            <p:cNvSpPr/>
            <p:nvPr/>
          </p:nvSpPr>
          <p:spPr>
            <a:xfrm flipH="false" flipV="false" rot="0">
              <a:off x="0" y="0"/>
              <a:ext cx="1300348" cy="176452"/>
            </a:xfrm>
            <a:custGeom>
              <a:avLst/>
              <a:gdLst/>
              <a:ahLst/>
              <a:cxnLst/>
              <a:rect r="r" b="b" t="t" l="l"/>
              <a:pathLst>
                <a:path h="176452" w="1300348">
                  <a:moveTo>
                    <a:pt x="79383" y="0"/>
                  </a:moveTo>
                  <a:lnTo>
                    <a:pt x="1220965" y="0"/>
                  </a:lnTo>
                  <a:cubicBezTo>
                    <a:pt x="1264807" y="0"/>
                    <a:pt x="1300348" y="35541"/>
                    <a:pt x="1300348" y="79383"/>
                  </a:cubicBezTo>
                  <a:lnTo>
                    <a:pt x="1300348" y="97069"/>
                  </a:lnTo>
                  <a:cubicBezTo>
                    <a:pt x="1300348" y="118123"/>
                    <a:pt x="1291985" y="138314"/>
                    <a:pt x="1277098" y="153202"/>
                  </a:cubicBezTo>
                  <a:cubicBezTo>
                    <a:pt x="1262210" y="168089"/>
                    <a:pt x="1242019" y="176452"/>
                    <a:pt x="1220965" y="176452"/>
                  </a:cubicBezTo>
                  <a:lnTo>
                    <a:pt x="79383" y="176452"/>
                  </a:lnTo>
                  <a:cubicBezTo>
                    <a:pt x="35541" y="176452"/>
                    <a:pt x="0" y="140911"/>
                    <a:pt x="0" y="97069"/>
                  </a:cubicBezTo>
                  <a:lnTo>
                    <a:pt x="0" y="79383"/>
                  </a:lnTo>
                  <a:cubicBezTo>
                    <a:pt x="0" y="35541"/>
                    <a:pt x="35541" y="0"/>
                    <a:pt x="79383" y="0"/>
                  </a:cubicBezTo>
                  <a:close/>
                </a:path>
              </a:pathLst>
            </a:custGeom>
            <a:solidFill>
              <a:srgbClr val="7D2116"/>
            </a:solidFill>
          </p:spPr>
        </p:sp>
        <p:sp>
          <p:nvSpPr>
            <p:cNvPr name="TextBox 4" id="4"/>
            <p:cNvSpPr txBox="true"/>
            <p:nvPr/>
          </p:nvSpPr>
          <p:spPr>
            <a:xfrm>
              <a:off x="0" y="-38100"/>
              <a:ext cx="1300348" cy="21455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97038" y="3281760"/>
            <a:ext cx="6273970" cy="2895485"/>
            <a:chOff x="0" y="0"/>
            <a:chExt cx="812800" cy="375113"/>
          </a:xfrm>
        </p:grpSpPr>
        <p:sp>
          <p:nvSpPr>
            <p:cNvPr name="Freeform 6" id="6"/>
            <p:cNvSpPr/>
            <p:nvPr/>
          </p:nvSpPr>
          <p:spPr>
            <a:xfrm flipH="false" flipV="false" rot="0">
              <a:off x="0" y="0"/>
              <a:ext cx="812800" cy="375113"/>
            </a:xfrm>
            <a:custGeom>
              <a:avLst/>
              <a:gdLst/>
              <a:ahLst/>
              <a:cxnLst/>
              <a:rect r="r" b="b" t="t" l="l"/>
              <a:pathLst>
                <a:path h="375113" w="812800">
                  <a:moveTo>
                    <a:pt x="609600" y="0"/>
                  </a:moveTo>
                  <a:cubicBezTo>
                    <a:pt x="721830" y="0"/>
                    <a:pt x="812800" y="83967"/>
                    <a:pt x="812800" y="187557"/>
                  </a:cubicBezTo>
                  <a:cubicBezTo>
                    <a:pt x="812800" y="291147"/>
                    <a:pt x="721830" y="375113"/>
                    <a:pt x="609600" y="375113"/>
                  </a:cubicBezTo>
                  <a:lnTo>
                    <a:pt x="203200" y="375113"/>
                  </a:lnTo>
                  <a:cubicBezTo>
                    <a:pt x="90970" y="375113"/>
                    <a:pt x="0" y="291147"/>
                    <a:pt x="0" y="187557"/>
                  </a:cubicBezTo>
                  <a:cubicBezTo>
                    <a:pt x="0" y="83967"/>
                    <a:pt x="90970" y="0"/>
                    <a:pt x="203200" y="0"/>
                  </a:cubicBezTo>
                  <a:lnTo>
                    <a:pt x="609600" y="0"/>
                  </a:lnTo>
                </a:path>
              </a:pathLst>
            </a:custGeom>
            <a:blipFill>
              <a:blip r:embed="rId2"/>
              <a:stretch>
                <a:fillRect l="0" t="-10670" r="0" b="-10670"/>
              </a:stretch>
            </a:blipFill>
            <a:ln w="114300" cap="sq">
              <a:solidFill>
                <a:srgbClr val="7D2116"/>
              </a:solidFill>
              <a:prstDash val="solid"/>
              <a:miter/>
            </a:ln>
          </p:spPr>
        </p:sp>
      </p:grpSp>
      <p:grpSp>
        <p:nvGrpSpPr>
          <p:cNvPr name="Group 7" id="7"/>
          <p:cNvGrpSpPr/>
          <p:nvPr/>
        </p:nvGrpSpPr>
        <p:grpSpPr>
          <a:xfrm rot="0">
            <a:off x="1697038" y="6370187"/>
            <a:ext cx="6273970" cy="2895485"/>
            <a:chOff x="0" y="0"/>
            <a:chExt cx="812800" cy="375113"/>
          </a:xfrm>
        </p:grpSpPr>
        <p:sp>
          <p:nvSpPr>
            <p:cNvPr name="Freeform 8" id="8"/>
            <p:cNvSpPr/>
            <p:nvPr/>
          </p:nvSpPr>
          <p:spPr>
            <a:xfrm flipH="false" flipV="false" rot="0">
              <a:off x="0" y="0"/>
              <a:ext cx="812800" cy="375113"/>
            </a:xfrm>
            <a:custGeom>
              <a:avLst/>
              <a:gdLst/>
              <a:ahLst/>
              <a:cxnLst/>
              <a:rect r="r" b="b" t="t" l="l"/>
              <a:pathLst>
                <a:path h="375113" w="812800">
                  <a:moveTo>
                    <a:pt x="609600" y="0"/>
                  </a:moveTo>
                  <a:cubicBezTo>
                    <a:pt x="721830" y="0"/>
                    <a:pt x="812800" y="83967"/>
                    <a:pt x="812800" y="187557"/>
                  </a:cubicBezTo>
                  <a:cubicBezTo>
                    <a:pt x="812800" y="291147"/>
                    <a:pt x="721830" y="375113"/>
                    <a:pt x="609600" y="375113"/>
                  </a:cubicBezTo>
                  <a:lnTo>
                    <a:pt x="203200" y="375113"/>
                  </a:lnTo>
                  <a:cubicBezTo>
                    <a:pt x="90970" y="375113"/>
                    <a:pt x="0" y="291147"/>
                    <a:pt x="0" y="187557"/>
                  </a:cubicBezTo>
                  <a:cubicBezTo>
                    <a:pt x="0" y="83967"/>
                    <a:pt x="90970" y="0"/>
                    <a:pt x="203200" y="0"/>
                  </a:cubicBezTo>
                  <a:lnTo>
                    <a:pt x="609600" y="0"/>
                  </a:lnTo>
                </a:path>
              </a:pathLst>
            </a:custGeom>
            <a:blipFill>
              <a:blip r:embed="rId3"/>
              <a:stretch>
                <a:fillRect l="0" t="-22046" r="0" b="-22046"/>
              </a:stretch>
            </a:blipFill>
            <a:ln w="114300" cap="sq">
              <a:solidFill>
                <a:srgbClr val="7D2116"/>
              </a:solidFill>
              <a:prstDash val="solid"/>
              <a:miter/>
            </a:ln>
          </p:spPr>
        </p:sp>
      </p:grpSp>
      <p:sp>
        <p:nvSpPr>
          <p:cNvPr name="TextBox 9" id="9"/>
          <p:cNvSpPr txBox="true"/>
          <p:nvPr/>
        </p:nvSpPr>
        <p:spPr>
          <a:xfrm rot="0">
            <a:off x="8348699" y="3455190"/>
            <a:ext cx="7956376" cy="2501000"/>
          </a:xfrm>
          <a:prstGeom prst="rect">
            <a:avLst/>
          </a:prstGeom>
        </p:spPr>
        <p:txBody>
          <a:bodyPr anchor="t" rtlCol="false" tIns="0" lIns="0" bIns="0" rIns="0">
            <a:spAutoFit/>
          </a:bodyPr>
          <a:lstStyle/>
          <a:p>
            <a:pPr algn="just">
              <a:lnSpc>
                <a:spcPts val="3374"/>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 Aenean iaculis mauris ut neque gravida, vel suscipit eros sollicitudin. Morbi consequat sapien in lectus volutpat, a elementum odio fermentum. </a:t>
            </a:r>
          </a:p>
        </p:txBody>
      </p:sp>
      <p:sp>
        <p:nvSpPr>
          <p:cNvPr name="TextBox 10" id="10"/>
          <p:cNvSpPr txBox="true"/>
          <p:nvPr/>
        </p:nvSpPr>
        <p:spPr>
          <a:xfrm rot="0">
            <a:off x="2579389" y="1436442"/>
            <a:ext cx="12286106" cy="1287016"/>
          </a:xfrm>
          <a:prstGeom prst="rect">
            <a:avLst/>
          </a:prstGeom>
        </p:spPr>
        <p:txBody>
          <a:bodyPr anchor="t" rtlCol="false" tIns="0" lIns="0" bIns="0" rIns="0">
            <a:spAutoFit/>
          </a:bodyPr>
          <a:lstStyle/>
          <a:p>
            <a:pPr algn="ctr">
              <a:lnSpc>
                <a:spcPts val="7731"/>
              </a:lnSpc>
            </a:pPr>
            <a:r>
              <a:rPr lang="en-US" b="true" sz="8225">
                <a:solidFill>
                  <a:srgbClr val="FFEAE9"/>
                </a:solidFill>
                <a:latin typeface="Cooper Hewitt Bold"/>
                <a:ea typeface="Cooper Hewitt Bold"/>
                <a:cs typeface="Cooper Hewitt Bold"/>
                <a:sym typeface="Cooper Hewitt Bold"/>
              </a:rPr>
              <a:t>REGULAR </a:t>
            </a:r>
            <a:r>
              <a:rPr lang="en-US" b="true" sz="8225">
                <a:solidFill>
                  <a:srgbClr val="FFEAE9"/>
                </a:solidFill>
                <a:latin typeface="Cooper Hewitt Bold"/>
                <a:ea typeface="Cooper Hewitt Bold"/>
                <a:cs typeface="Cooper Hewitt Bold"/>
                <a:sym typeface="Cooper Hewitt Bold"/>
              </a:rPr>
              <a:t>EYE EXAMS</a:t>
            </a:r>
          </a:p>
        </p:txBody>
      </p:sp>
      <p:sp>
        <p:nvSpPr>
          <p:cNvPr name="TextBox 11" id="11"/>
          <p:cNvSpPr txBox="true"/>
          <p:nvPr/>
        </p:nvSpPr>
        <p:spPr>
          <a:xfrm rot="0">
            <a:off x="8348699" y="6508639"/>
            <a:ext cx="7956376" cy="2501000"/>
          </a:xfrm>
          <a:prstGeom prst="rect">
            <a:avLst/>
          </a:prstGeom>
        </p:spPr>
        <p:txBody>
          <a:bodyPr anchor="t" rtlCol="false" tIns="0" lIns="0" bIns="0" rIns="0">
            <a:spAutoFit/>
          </a:bodyPr>
          <a:lstStyle/>
          <a:p>
            <a:pPr algn="just">
              <a:lnSpc>
                <a:spcPts val="3374"/>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 Aenean iaculis mauris ut neque gravida, vel suscipit eros sollicitudin. Morbi consequat sapien in lectus volutpat, a elementum odio fermentum.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EAE9"/>
        </a:solidFill>
      </p:bgPr>
    </p:bg>
    <p:spTree>
      <p:nvGrpSpPr>
        <p:cNvPr id="1" name=""/>
        <p:cNvGrpSpPr/>
        <p:nvPr/>
      </p:nvGrpSpPr>
      <p:grpSpPr>
        <a:xfrm>
          <a:off x="0" y="0"/>
          <a:ext cx="0" cy="0"/>
          <a:chOff x="0" y="0"/>
          <a:chExt cx="0" cy="0"/>
        </a:xfrm>
      </p:grpSpPr>
      <p:grpSp>
        <p:nvGrpSpPr>
          <p:cNvPr name="Group 2" id="2"/>
          <p:cNvGrpSpPr/>
          <p:nvPr/>
        </p:nvGrpSpPr>
        <p:grpSpPr>
          <a:xfrm rot="0">
            <a:off x="1805184" y="1028700"/>
            <a:ext cx="13834516" cy="1877291"/>
            <a:chOff x="0" y="0"/>
            <a:chExt cx="1300348" cy="176452"/>
          </a:xfrm>
        </p:grpSpPr>
        <p:sp>
          <p:nvSpPr>
            <p:cNvPr name="Freeform 3" id="3"/>
            <p:cNvSpPr/>
            <p:nvPr/>
          </p:nvSpPr>
          <p:spPr>
            <a:xfrm flipH="false" flipV="false" rot="0">
              <a:off x="0" y="0"/>
              <a:ext cx="1300348" cy="176452"/>
            </a:xfrm>
            <a:custGeom>
              <a:avLst/>
              <a:gdLst/>
              <a:ahLst/>
              <a:cxnLst/>
              <a:rect r="r" b="b" t="t" l="l"/>
              <a:pathLst>
                <a:path h="176452" w="1300348">
                  <a:moveTo>
                    <a:pt x="79383" y="0"/>
                  </a:moveTo>
                  <a:lnTo>
                    <a:pt x="1220965" y="0"/>
                  </a:lnTo>
                  <a:cubicBezTo>
                    <a:pt x="1264807" y="0"/>
                    <a:pt x="1300348" y="35541"/>
                    <a:pt x="1300348" y="79383"/>
                  </a:cubicBezTo>
                  <a:lnTo>
                    <a:pt x="1300348" y="97069"/>
                  </a:lnTo>
                  <a:cubicBezTo>
                    <a:pt x="1300348" y="118123"/>
                    <a:pt x="1291985" y="138314"/>
                    <a:pt x="1277098" y="153202"/>
                  </a:cubicBezTo>
                  <a:cubicBezTo>
                    <a:pt x="1262210" y="168089"/>
                    <a:pt x="1242019" y="176452"/>
                    <a:pt x="1220965" y="176452"/>
                  </a:cubicBezTo>
                  <a:lnTo>
                    <a:pt x="79383" y="176452"/>
                  </a:lnTo>
                  <a:cubicBezTo>
                    <a:pt x="35541" y="176452"/>
                    <a:pt x="0" y="140911"/>
                    <a:pt x="0" y="97069"/>
                  </a:cubicBezTo>
                  <a:lnTo>
                    <a:pt x="0" y="79383"/>
                  </a:lnTo>
                  <a:cubicBezTo>
                    <a:pt x="0" y="35541"/>
                    <a:pt x="35541" y="0"/>
                    <a:pt x="79383" y="0"/>
                  </a:cubicBezTo>
                  <a:close/>
                </a:path>
              </a:pathLst>
            </a:custGeom>
            <a:solidFill>
              <a:srgbClr val="7D2116"/>
            </a:solidFill>
          </p:spPr>
        </p:sp>
        <p:sp>
          <p:nvSpPr>
            <p:cNvPr name="TextBox 4" id="4"/>
            <p:cNvSpPr txBox="true"/>
            <p:nvPr/>
          </p:nvSpPr>
          <p:spPr>
            <a:xfrm>
              <a:off x="0" y="-38100"/>
              <a:ext cx="1300348" cy="2145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207845" y="3455190"/>
            <a:ext cx="8596189" cy="2501000"/>
          </a:xfrm>
          <a:prstGeom prst="rect">
            <a:avLst/>
          </a:prstGeom>
        </p:spPr>
        <p:txBody>
          <a:bodyPr anchor="t" rtlCol="false" tIns="0" lIns="0" bIns="0" rIns="0">
            <a:spAutoFit/>
          </a:bodyPr>
          <a:lstStyle/>
          <a:p>
            <a:pPr algn="just">
              <a:lnSpc>
                <a:spcPts val="3374"/>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 Aenean iaculis mauris ut neque gravida, vel suscipit eros sollicitudin. Morbi consequat sapien in lectus volutpat, a elementum odio fermentum. </a:t>
            </a:r>
          </a:p>
        </p:txBody>
      </p:sp>
      <p:sp>
        <p:nvSpPr>
          <p:cNvPr name="TextBox 6" id="6"/>
          <p:cNvSpPr txBox="true"/>
          <p:nvPr/>
        </p:nvSpPr>
        <p:spPr>
          <a:xfrm rot="0">
            <a:off x="2579389" y="1436442"/>
            <a:ext cx="12286106" cy="1287016"/>
          </a:xfrm>
          <a:prstGeom prst="rect">
            <a:avLst/>
          </a:prstGeom>
        </p:spPr>
        <p:txBody>
          <a:bodyPr anchor="t" rtlCol="false" tIns="0" lIns="0" bIns="0" rIns="0">
            <a:spAutoFit/>
          </a:bodyPr>
          <a:lstStyle/>
          <a:p>
            <a:pPr algn="ctr">
              <a:lnSpc>
                <a:spcPts val="7731"/>
              </a:lnSpc>
            </a:pPr>
            <a:r>
              <a:rPr lang="en-US" b="true" sz="8225">
                <a:solidFill>
                  <a:srgbClr val="FFEAE9"/>
                </a:solidFill>
                <a:latin typeface="Cooper Hewitt Bold"/>
                <a:ea typeface="Cooper Hewitt Bold"/>
                <a:cs typeface="Cooper Hewitt Bold"/>
                <a:sym typeface="Cooper Hewitt Bold"/>
              </a:rPr>
              <a:t>PROTECT YOUR VI</a:t>
            </a:r>
            <a:r>
              <a:rPr lang="en-US" b="true" sz="8225">
                <a:solidFill>
                  <a:srgbClr val="FFEAE9"/>
                </a:solidFill>
                <a:latin typeface="Cooper Hewitt Bold"/>
                <a:ea typeface="Cooper Hewitt Bold"/>
                <a:cs typeface="Cooper Hewitt Bold"/>
                <a:sym typeface="Cooper Hewitt Bold"/>
              </a:rPr>
              <a:t>SION</a:t>
            </a:r>
          </a:p>
        </p:txBody>
      </p:sp>
      <p:sp>
        <p:nvSpPr>
          <p:cNvPr name="TextBox 7" id="7"/>
          <p:cNvSpPr txBox="true"/>
          <p:nvPr/>
        </p:nvSpPr>
        <p:spPr>
          <a:xfrm rot="0">
            <a:off x="7683324" y="6508639"/>
            <a:ext cx="7956376" cy="2501000"/>
          </a:xfrm>
          <a:prstGeom prst="rect">
            <a:avLst/>
          </a:prstGeom>
        </p:spPr>
        <p:txBody>
          <a:bodyPr anchor="t" rtlCol="false" tIns="0" lIns="0" bIns="0" rIns="0">
            <a:spAutoFit/>
          </a:bodyPr>
          <a:lstStyle/>
          <a:p>
            <a:pPr algn="just">
              <a:lnSpc>
                <a:spcPts val="3374"/>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 Aenean iaculis mauris ut neque gravida, vel suscipit eros sollicitudin. Morbi consequat sapien in lectus volutpat, a elementum odio fermentum. </a:t>
            </a:r>
          </a:p>
        </p:txBody>
      </p:sp>
      <p:pic>
        <p:nvPicPr>
          <p:cNvPr name="Picture 8" id="8"/>
          <p:cNvPicPr>
            <a:picLocks noChangeAspect="true"/>
          </p:cNvPicPr>
          <p:nvPr/>
        </p:nvPicPr>
        <p:blipFill>
          <a:blip r:embed="rId2"/>
          <a:stretch>
            <a:fillRect/>
          </a:stretch>
        </p:blipFill>
        <p:spPr>
          <a:xfrm rot="0">
            <a:off x="11019343" y="3082783"/>
            <a:ext cx="5040389" cy="3293440"/>
          </a:xfrm>
          <a:prstGeom prst="rect">
            <a:avLst/>
          </a:prstGeom>
        </p:spPr>
      </p:pic>
      <p:pic>
        <p:nvPicPr>
          <p:cNvPr name="Picture 9" id="9"/>
          <p:cNvPicPr>
            <a:picLocks noChangeAspect="true"/>
          </p:cNvPicPr>
          <p:nvPr/>
        </p:nvPicPr>
        <p:blipFill>
          <a:blip r:embed="rId3"/>
          <a:stretch>
            <a:fillRect/>
          </a:stretch>
        </p:blipFill>
        <p:spPr>
          <a:xfrm rot="0">
            <a:off x="1710888" y="6240282"/>
            <a:ext cx="5963478" cy="3275707"/>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EAE9"/>
        </a:solidFill>
      </p:bgPr>
    </p:bg>
    <p:spTree>
      <p:nvGrpSpPr>
        <p:cNvPr id="1" name=""/>
        <p:cNvGrpSpPr/>
        <p:nvPr/>
      </p:nvGrpSpPr>
      <p:grpSpPr>
        <a:xfrm>
          <a:off x="0" y="0"/>
          <a:ext cx="0" cy="0"/>
          <a:chOff x="0" y="0"/>
          <a:chExt cx="0" cy="0"/>
        </a:xfrm>
      </p:grpSpPr>
      <p:grpSp>
        <p:nvGrpSpPr>
          <p:cNvPr name="Group 2" id="2"/>
          <p:cNvGrpSpPr/>
          <p:nvPr/>
        </p:nvGrpSpPr>
        <p:grpSpPr>
          <a:xfrm rot="0">
            <a:off x="10431066" y="1028700"/>
            <a:ext cx="5927703" cy="2722037"/>
            <a:chOff x="0" y="0"/>
            <a:chExt cx="557163" cy="255853"/>
          </a:xfrm>
        </p:grpSpPr>
        <p:sp>
          <p:nvSpPr>
            <p:cNvPr name="Freeform 3" id="3"/>
            <p:cNvSpPr/>
            <p:nvPr/>
          </p:nvSpPr>
          <p:spPr>
            <a:xfrm flipH="false" flipV="false" rot="0">
              <a:off x="0" y="0"/>
              <a:ext cx="557163" cy="255853"/>
            </a:xfrm>
            <a:custGeom>
              <a:avLst/>
              <a:gdLst/>
              <a:ahLst/>
              <a:cxnLst/>
              <a:rect r="r" b="b" t="t" l="l"/>
              <a:pathLst>
                <a:path h="255853" w="557163">
                  <a:moveTo>
                    <a:pt x="100566" y="0"/>
                  </a:moveTo>
                  <a:lnTo>
                    <a:pt x="456596" y="0"/>
                  </a:lnTo>
                  <a:cubicBezTo>
                    <a:pt x="483268" y="0"/>
                    <a:pt x="508848" y="10595"/>
                    <a:pt x="527708" y="29455"/>
                  </a:cubicBezTo>
                  <a:cubicBezTo>
                    <a:pt x="546567" y="48315"/>
                    <a:pt x="557163" y="73895"/>
                    <a:pt x="557163" y="100566"/>
                  </a:cubicBezTo>
                  <a:lnTo>
                    <a:pt x="557163" y="155286"/>
                  </a:lnTo>
                  <a:cubicBezTo>
                    <a:pt x="557163" y="181958"/>
                    <a:pt x="546567" y="207537"/>
                    <a:pt x="527708" y="226397"/>
                  </a:cubicBezTo>
                  <a:cubicBezTo>
                    <a:pt x="508848" y="245257"/>
                    <a:pt x="483268" y="255853"/>
                    <a:pt x="456596" y="255853"/>
                  </a:cubicBezTo>
                  <a:lnTo>
                    <a:pt x="100566" y="255853"/>
                  </a:lnTo>
                  <a:cubicBezTo>
                    <a:pt x="73895" y="255853"/>
                    <a:pt x="48315" y="245257"/>
                    <a:pt x="29455" y="226397"/>
                  </a:cubicBezTo>
                  <a:cubicBezTo>
                    <a:pt x="10595" y="207537"/>
                    <a:pt x="0" y="181958"/>
                    <a:pt x="0" y="155286"/>
                  </a:cubicBezTo>
                  <a:lnTo>
                    <a:pt x="0" y="100566"/>
                  </a:lnTo>
                  <a:cubicBezTo>
                    <a:pt x="0" y="73895"/>
                    <a:pt x="10595" y="48315"/>
                    <a:pt x="29455" y="29455"/>
                  </a:cubicBezTo>
                  <a:cubicBezTo>
                    <a:pt x="48315" y="10595"/>
                    <a:pt x="73895" y="0"/>
                    <a:pt x="100566" y="0"/>
                  </a:cubicBezTo>
                  <a:close/>
                </a:path>
              </a:pathLst>
            </a:custGeom>
            <a:solidFill>
              <a:srgbClr val="7D2116"/>
            </a:solidFill>
          </p:spPr>
        </p:sp>
        <p:sp>
          <p:nvSpPr>
            <p:cNvPr name="TextBox 4" id="4"/>
            <p:cNvSpPr txBox="true"/>
            <p:nvPr/>
          </p:nvSpPr>
          <p:spPr>
            <a:xfrm>
              <a:off x="0" y="-38100"/>
              <a:ext cx="557163" cy="29395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28700" y="1593659"/>
            <a:ext cx="859977" cy="859977"/>
          </a:xfrm>
          <a:custGeom>
            <a:avLst/>
            <a:gdLst/>
            <a:ahLst/>
            <a:cxnLst/>
            <a:rect r="r" b="b" t="t" l="l"/>
            <a:pathLst>
              <a:path h="859977" w="859977">
                <a:moveTo>
                  <a:pt x="0" y="0"/>
                </a:moveTo>
                <a:lnTo>
                  <a:pt x="859977" y="0"/>
                </a:lnTo>
                <a:lnTo>
                  <a:pt x="859977" y="859977"/>
                </a:lnTo>
                <a:lnTo>
                  <a:pt x="0" y="8599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47373" y="4342491"/>
            <a:ext cx="11702779" cy="7372751"/>
          </a:xfrm>
          <a:custGeom>
            <a:avLst/>
            <a:gdLst/>
            <a:ahLst/>
            <a:cxnLst/>
            <a:rect r="r" b="b" t="t" l="l"/>
            <a:pathLst>
              <a:path h="7372751" w="11702779">
                <a:moveTo>
                  <a:pt x="0" y="0"/>
                </a:moveTo>
                <a:lnTo>
                  <a:pt x="11702779" y="0"/>
                </a:lnTo>
                <a:lnTo>
                  <a:pt x="11702779" y="7372751"/>
                </a:lnTo>
                <a:lnTo>
                  <a:pt x="0" y="73727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2315219" y="1168435"/>
            <a:ext cx="7116096" cy="1662800"/>
          </a:xfrm>
          <a:prstGeom prst="rect">
            <a:avLst/>
          </a:prstGeom>
        </p:spPr>
        <p:txBody>
          <a:bodyPr anchor="t" rtlCol="false" tIns="0" lIns="0" bIns="0" rIns="0">
            <a:spAutoFit/>
          </a:bodyPr>
          <a:lstStyle/>
          <a:p>
            <a:pPr algn="just">
              <a:lnSpc>
                <a:spcPts val="3374"/>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 </a:t>
            </a:r>
          </a:p>
        </p:txBody>
      </p:sp>
      <p:sp>
        <p:nvSpPr>
          <p:cNvPr name="TextBox 8" id="8"/>
          <p:cNvSpPr txBox="true"/>
          <p:nvPr/>
        </p:nvSpPr>
        <p:spPr>
          <a:xfrm rot="0">
            <a:off x="10492078" y="1791078"/>
            <a:ext cx="5805678" cy="1287016"/>
          </a:xfrm>
          <a:prstGeom prst="rect">
            <a:avLst/>
          </a:prstGeom>
        </p:spPr>
        <p:txBody>
          <a:bodyPr anchor="t" rtlCol="false" tIns="0" lIns="0" bIns="0" rIns="0">
            <a:spAutoFit/>
          </a:bodyPr>
          <a:lstStyle/>
          <a:p>
            <a:pPr algn="ctr">
              <a:lnSpc>
                <a:spcPts val="7731"/>
              </a:lnSpc>
            </a:pPr>
            <a:r>
              <a:rPr lang="en-US" b="true" sz="8225">
                <a:solidFill>
                  <a:srgbClr val="FFEAE9"/>
                </a:solidFill>
                <a:latin typeface="Cooper Hewitt Bold"/>
                <a:ea typeface="Cooper Hewitt Bold"/>
                <a:cs typeface="Cooper Hewitt Bold"/>
                <a:sym typeface="Cooper Hewitt Bold"/>
              </a:rPr>
              <a:t>CLO</a:t>
            </a:r>
            <a:r>
              <a:rPr lang="en-US" b="true" sz="8225">
                <a:solidFill>
                  <a:srgbClr val="FFEAE9"/>
                </a:solidFill>
                <a:latin typeface="Cooper Hewitt Bold"/>
                <a:ea typeface="Cooper Hewitt Bold"/>
                <a:cs typeface="Cooper Hewitt Bold"/>
                <a:sym typeface="Cooper Hewitt Bold"/>
              </a:rPr>
              <a:t>SING</a:t>
            </a:r>
          </a:p>
        </p:txBody>
      </p:sp>
      <p:sp>
        <p:nvSpPr>
          <p:cNvPr name="TextBox 9" id="9"/>
          <p:cNvSpPr txBox="true"/>
          <p:nvPr/>
        </p:nvSpPr>
        <p:spPr>
          <a:xfrm rot="0">
            <a:off x="2315219" y="3186318"/>
            <a:ext cx="7116096" cy="1662800"/>
          </a:xfrm>
          <a:prstGeom prst="rect">
            <a:avLst/>
          </a:prstGeom>
        </p:spPr>
        <p:txBody>
          <a:bodyPr anchor="t" rtlCol="false" tIns="0" lIns="0" bIns="0" rIns="0">
            <a:spAutoFit/>
          </a:bodyPr>
          <a:lstStyle/>
          <a:p>
            <a:pPr algn="just">
              <a:lnSpc>
                <a:spcPts val="3374"/>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 </a:t>
            </a:r>
          </a:p>
        </p:txBody>
      </p:sp>
      <p:sp>
        <p:nvSpPr>
          <p:cNvPr name="TextBox 10" id="10"/>
          <p:cNvSpPr txBox="true"/>
          <p:nvPr/>
        </p:nvSpPr>
        <p:spPr>
          <a:xfrm rot="0">
            <a:off x="2315219" y="5204201"/>
            <a:ext cx="7116096" cy="1662800"/>
          </a:xfrm>
          <a:prstGeom prst="rect">
            <a:avLst/>
          </a:prstGeom>
        </p:spPr>
        <p:txBody>
          <a:bodyPr anchor="t" rtlCol="false" tIns="0" lIns="0" bIns="0" rIns="0">
            <a:spAutoFit/>
          </a:bodyPr>
          <a:lstStyle/>
          <a:p>
            <a:pPr algn="just">
              <a:lnSpc>
                <a:spcPts val="3374"/>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 </a:t>
            </a:r>
          </a:p>
        </p:txBody>
      </p:sp>
      <p:sp>
        <p:nvSpPr>
          <p:cNvPr name="TextBox 11" id="11"/>
          <p:cNvSpPr txBox="true"/>
          <p:nvPr/>
        </p:nvSpPr>
        <p:spPr>
          <a:xfrm rot="0">
            <a:off x="2315219" y="7222083"/>
            <a:ext cx="7116096" cy="1662800"/>
          </a:xfrm>
          <a:prstGeom prst="rect">
            <a:avLst/>
          </a:prstGeom>
        </p:spPr>
        <p:txBody>
          <a:bodyPr anchor="t" rtlCol="false" tIns="0" lIns="0" bIns="0" rIns="0">
            <a:spAutoFit/>
          </a:bodyPr>
          <a:lstStyle/>
          <a:p>
            <a:pPr algn="just">
              <a:lnSpc>
                <a:spcPts val="3374"/>
              </a:lnSpc>
            </a:pPr>
            <a:r>
              <a:rPr lang="en-US" sz="2410">
                <a:solidFill>
                  <a:srgbClr val="7D2116"/>
                </a:solidFill>
                <a:latin typeface="DM Sans"/>
                <a:ea typeface="DM Sans"/>
                <a:cs typeface="DM Sans"/>
                <a:sym typeface="DM Sans"/>
              </a:rPr>
              <a:t>Lorem ipsum dolor sit amet, consectetur adipiscing elit. Proin malesuada interdum libero, nec vehicula metus eleifend sit amet. Nullam nec ligula at turpis volutpat luctus. </a:t>
            </a:r>
          </a:p>
        </p:txBody>
      </p:sp>
      <p:sp>
        <p:nvSpPr>
          <p:cNvPr name="Freeform 12" id="12"/>
          <p:cNvSpPr/>
          <p:nvPr/>
        </p:nvSpPr>
        <p:spPr>
          <a:xfrm flipH="false" flipV="false" rot="0">
            <a:off x="1028700" y="3611542"/>
            <a:ext cx="859977" cy="859977"/>
          </a:xfrm>
          <a:custGeom>
            <a:avLst/>
            <a:gdLst/>
            <a:ahLst/>
            <a:cxnLst/>
            <a:rect r="r" b="b" t="t" l="l"/>
            <a:pathLst>
              <a:path h="859977" w="859977">
                <a:moveTo>
                  <a:pt x="0" y="0"/>
                </a:moveTo>
                <a:lnTo>
                  <a:pt x="859977" y="0"/>
                </a:lnTo>
                <a:lnTo>
                  <a:pt x="859977" y="859977"/>
                </a:lnTo>
                <a:lnTo>
                  <a:pt x="0" y="8599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028700" y="5629425"/>
            <a:ext cx="859977" cy="859977"/>
          </a:xfrm>
          <a:custGeom>
            <a:avLst/>
            <a:gdLst/>
            <a:ahLst/>
            <a:cxnLst/>
            <a:rect r="r" b="b" t="t" l="l"/>
            <a:pathLst>
              <a:path h="859977" w="859977">
                <a:moveTo>
                  <a:pt x="0" y="0"/>
                </a:moveTo>
                <a:lnTo>
                  <a:pt x="859977" y="0"/>
                </a:lnTo>
                <a:lnTo>
                  <a:pt x="859977" y="859977"/>
                </a:lnTo>
                <a:lnTo>
                  <a:pt x="0" y="8599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028700" y="7651452"/>
            <a:ext cx="859977" cy="859977"/>
          </a:xfrm>
          <a:custGeom>
            <a:avLst/>
            <a:gdLst/>
            <a:ahLst/>
            <a:cxnLst/>
            <a:rect r="r" b="b" t="t" l="l"/>
            <a:pathLst>
              <a:path h="859977" w="859977">
                <a:moveTo>
                  <a:pt x="0" y="0"/>
                </a:moveTo>
                <a:lnTo>
                  <a:pt x="859977" y="0"/>
                </a:lnTo>
                <a:lnTo>
                  <a:pt x="859977" y="859977"/>
                </a:lnTo>
                <a:lnTo>
                  <a:pt x="0" y="8599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EAE9"/>
        </a:solidFill>
      </p:bgPr>
    </p:bg>
    <p:spTree>
      <p:nvGrpSpPr>
        <p:cNvPr id="1" name=""/>
        <p:cNvGrpSpPr/>
        <p:nvPr/>
      </p:nvGrpSpPr>
      <p:grpSpPr>
        <a:xfrm>
          <a:off x="0" y="0"/>
          <a:ext cx="0" cy="0"/>
          <a:chOff x="0" y="0"/>
          <a:chExt cx="0" cy="0"/>
        </a:xfrm>
      </p:grpSpPr>
      <p:sp>
        <p:nvSpPr>
          <p:cNvPr name="Freeform 2" id="2"/>
          <p:cNvSpPr/>
          <p:nvPr/>
        </p:nvSpPr>
        <p:spPr>
          <a:xfrm flipH="false" flipV="false" rot="0">
            <a:off x="6124472" y="6698158"/>
            <a:ext cx="6644366" cy="6511478"/>
          </a:xfrm>
          <a:custGeom>
            <a:avLst/>
            <a:gdLst/>
            <a:ahLst/>
            <a:cxnLst/>
            <a:rect r="r" b="b" t="t" l="l"/>
            <a:pathLst>
              <a:path h="6511478" w="6644366">
                <a:moveTo>
                  <a:pt x="0" y="0"/>
                </a:moveTo>
                <a:lnTo>
                  <a:pt x="6644366" y="0"/>
                </a:lnTo>
                <a:lnTo>
                  <a:pt x="6644366" y="6511479"/>
                </a:lnTo>
                <a:lnTo>
                  <a:pt x="0" y="6511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654438" y="3320990"/>
            <a:ext cx="11200512" cy="2272444"/>
          </a:xfrm>
          <a:prstGeom prst="rect">
            <a:avLst/>
          </a:prstGeom>
        </p:spPr>
        <p:txBody>
          <a:bodyPr anchor="t" rtlCol="false" tIns="0" lIns="0" bIns="0" rIns="0">
            <a:spAutoFit/>
          </a:bodyPr>
          <a:lstStyle/>
          <a:p>
            <a:pPr algn="ctr">
              <a:lnSpc>
                <a:spcPts val="13714"/>
              </a:lnSpc>
            </a:pPr>
            <a:r>
              <a:rPr lang="en-US" b="true" sz="14589">
                <a:solidFill>
                  <a:srgbClr val="7D2116"/>
                </a:solidFill>
                <a:latin typeface="Cooper Hewitt Bold"/>
                <a:ea typeface="Cooper Hewitt Bold"/>
                <a:cs typeface="Cooper Hewitt Bold"/>
                <a:sym typeface="Cooper Hewitt Bold"/>
              </a:rPr>
              <a:t>THANK YOU</a:t>
            </a:r>
          </a:p>
        </p:txBody>
      </p:sp>
      <p:sp>
        <p:nvSpPr>
          <p:cNvPr name="TextBox 4" id="4"/>
          <p:cNvSpPr txBox="true"/>
          <p:nvPr/>
        </p:nvSpPr>
        <p:spPr>
          <a:xfrm rot="0">
            <a:off x="5740549" y="5507708"/>
            <a:ext cx="7028289" cy="710590"/>
          </a:xfrm>
          <a:prstGeom prst="rect">
            <a:avLst/>
          </a:prstGeom>
        </p:spPr>
        <p:txBody>
          <a:bodyPr anchor="t" rtlCol="false" tIns="0" lIns="0" bIns="0" rIns="0">
            <a:spAutoFit/>
          </a:bodyPr>
          <a:lstStyle/>
          <a:p>
            <a:pPr algn="l">
              <a:lnSpc>
                <a:spcPts val="5804"/>
              </a:lnSpc>
            </a:pPr>
            <a:r>
              <a:rPr lang="en-US" sz="4145">
                <a:solidFill>
                  <a:srgbClr val="7D2116"/>
                </a:solidFill>
                <a:latin typeface="DM Sans"/>
                <a:ea typeface="DM Sans"/>
                <a:cs typeface="DM Sans"/>
                <a:sym typeface="DM Sans"/>
              </a:rPr>
              <a:t>Presented by Rahil Patel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DAHXo9nZM7A</dc:identifier>
  <dcterms:modified xsi:type="dcterms:W3CDTF">2011-08-01T06:04:30Z</dcterms:modified>
  <cp:revision>1</cp:revision>
  <dc:title>Red Pink Modern Illustrated Eye Health Presentation</dc:title>
</cp:coreProperties>
</file>